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f3bf9c7974d8e" /><Relationship Type="http://schemas.openxmlformats.org/officeDocument/2006/relationships/extended-properties" Target="/docProps/app.xml" Id="Rd461f0faa0034dcf" /><Relationship Type="http://schemas.openxmlformats.org/officeDocument/2006/relationships/officeDocument" Target="/ppt/presentation.xml" Id="R5404d3b8161e44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4efc1329574cc6"/>
  </p:sldMasterIdLst>
  <p:notesMasterIdLst>
    <p:notesMasterId xmlns:r="http://schemas.openxmlformats.org/officeDocument/2006/relationships" r:id="Rb78346e23ae2495c"/>
  </p:notesMasterIdLst>
  <p:sldIdLst>
    <p:sldId xmlns:r="http://schemas.openxmlformats.org/officeDocument/2006/relationships" id="256" r:id="R3252f571d8044aa3"/>
    <p:sldId xmlns:r="http://schemas.openxmlformats.org/officeDocument/2006/relationships" id="257" r:id="R52b3fa43c7e4439a"/>
    <p:sldId xmlns:r="http://schemas.openxmlformats.org/officeDocument/2006/relationships" id="258" r:id="R48f16865eb9840ae"/>
    <p:sldId xmlns:r="http://schemas.openxmlformats.org/officeDocument/2006/relationships" id="259" r:id="R0ce5a433a20c4293"/>
    <p:sldId xmlns:r="http://schemas.openxmlformats.org/officeDocument/2006/relationships" id="260" r:id="Rbe11d522c0954ac1"/>
    <p:sldId xmlns:r="http://schemas.openxmlformats.org/officeDocument/2006/relationships" id="261" r:id="Rfe15f0601a4b4509"/>
    <p:sldId xmlns:r="http://schemas.openxmlformats.org/officeDocument/2006/relationships" id="262" r:id="Rc27f68438fa34f34"/>
    <p:sldId xmlns:r="http://schemas.openxmlformats.org/officeDocument/2006/relationships" id="263" r:id="R54c0aa55b8464a38"/>
    <p:sldId xmlns:r="http://schemas.openxmlformats.org/officeDocument/2006/relationships" id="264" r:id="R3bf59c50df5c4355"/>
    <p:sldId xmlns:r="http://schemas.openxmlformats.org/officeDocument/2006/relationships" id="265" r:id="Re22d1a3e73934987"/>
    <p:sldId xmlns:r="http://schemas.openxmlformats.org/officeDocument/2006/relationships" id="266" r:id="R784c2aaccf5949bd"/>
    <p:sldId xmlns:r="http://schemas.openxmlformats.org/officeDocument/2006/relationships" id="267" r:id="R9ec691287d62453f"/>
    <p:sldId xmlns:r="http://schemas.openxmlformats.org/officeDocument/2006/relationships" id="268" r:id="R96669fea39a84468"/>
    <p:sldId xmlns:r="http://schemas.openxmlformats.org/officeDocument/2006/relationships" id="269" r:id="R3b3362ad07a947f8"/>
    <p:sldId xmlns:r="http://schemas.openxmlformats.org/officeDocument/2006/relationships" id="270" r:id="R01cb310f0f0b4d01"/>
    <p:sldId xmlns:r="http://schemas.openxmlformats.org/officeDocument/2006/relationships" id="271" r:id="Rd2341ca4d24644a4"/>
    <p:sldId xmlns:r="http://schemas.openxmlformats.org/officeDocument/2006/relationships" id="272" r:id="R9570b71b45444625"/>
    <p:sldId xmlns:r="http://schemas.openxmlformats.org/officeDocument/2006/relationships" id="273" r:id="Re8eb8a4f315d4731"/>
    <p:sldId xmlns:r="http://schemas.openxmlformats.org/officeDocument/2006/relationships" id="274" r:id="R8211080223a44d47"/>
    <p:sldId xmlns:r="http://schemas.openxmlformats.org/officeDocument/2006/relationships" id="275" r:id="R15690972e6f6433e"/>
    <p:sldId xmlns:r="http://schemas.openxmlformats.org/officeDocument/2006/relationships" id="276" r:id="R01d608d12a544299"/>
    <p:sldId xmlns:r="http://schemas.openxmlformats.org/officeDocument/2006/relationships" id="277" r:id="Rdb3009305d6a46cc"/>
    <p:sldId xmlns:r="http://schemas.openxmlformats.org/officeDocument/2006/relationships" id="278" r:id="R6b3658c5800c4749"/>
    <p:sldId xmlns:r="http://schemas.openxmlformats.org/officeDocument/2006/relationships" id="279" r:id="Rfb8a4f08fc2d4f75"/>
    <p:sldId xmlns:r="http://schemas.openxmlformats.org/officeDocument/2006/relationships" id="280" r:id="Re6e2d00d13da4af9"/>
    <p:sldId xmlns:r="http://schemas.openxmlformats.org/officeDocument/2006/relationships" id="281" r:id="Ra807a8d8561a45cd"/>
    <p:sldId xmlns:r="http://schemas.openxmlformats.org/officeDocument/2006/relationships" id="282" r:id="R323279d71d0242b9"/>
    <p:sldId xmlns:r="http://schemas.openxmlformats.org/officeDocument/2006/relationships" id="283" r:id="Ree167c7ba482434c"/>
    <p:sldId xmlns:r="http://schemas.openxmlformats.org/officeDocument/2006/relationships" id="284" r:id="R2b1e7657ed0040fb"/>
    <p:sldId xmlns:r="http://schemas.openxmlformats.org/officeDocument/2006/relationships" id="285" r:id="R8d12b3385c834156"/>
    <p:sldId xmlns:r="http://schemas.openxmlformats.org/officeDocument/2006/relationships" id="286" r:id="R6b9b064e82a348e2"/>
    <p:sldId xmlns:r="http://schemas.openxmlformats.org/officeDocument/2006/relationships" id="287" r:id="Rb4f43b2045e24c5f"/>
    <p:sldId xmlns:r="http://schemas.openxmlformats.org/officeDocument/2006/relationships" id="288" r:id="R97285cf9e71f44be"/>
    <p:sldId xmlns:r="http://schemas.openxmlformats.org/officeDocument/2006/relationships" id="289" r:id="R87ea687481334c6f"/>
    <p:sldId xmlns:r="http://schemas.openxmlformats.org/officeDocument/2006/relationships" id="290" r:id="R45d9e775add44b3d"/>
    <p:sldId xmlns:r="http://schemas.openxmlformats.org/officeDocument/2006/relationships" id="291" r:id="R9a6254e737b14362"/>
    <p:sldId xmlns:r="http://schemas.openxmlformats.org/officeDocument/2006/relationships" id="292" r:id="R4e3f9ac6ef2a4d23"/>
    <p:sldId xmlns:r="http://schemas.openxmlformats.org/officeDocument/2006/relationships" id="293" r:id="Rce97f0f051e240b2"/>
    <p:sldId xmlns:r="http://schemas.openxmlformats.org/officeDocument/2006/relationships" id="294" r:id="R8c7c885054454fab"/>
    <p:sldId xmlns:r="http://schemas.openxmlformats.org/officeDocument/2006/relationships" id="295" r:id="R270ec748cdd84ad1"/>
    <p:sldId xmlns:r="http://schemas.openxmlformats.org/officeDocument/2006/relationships" id="296" r:id="Rcbc9d217c91443be"/>
    <p:sldId xmlns:r="http://schemas.openxmlformats.org/officeDocument/2006/relationships" id="297" r:id="Rd8f461c89beb480c"/>
    <p:sldId xmlns:r="http://schemas.openxmlformats.org/officeDocument/2006/relationships" id="298" r:id="R36b107dd367c4fff"/>
    <p:sldId xmlns:r="http://schemas.openxmlformats.org/officeDocument/2006/relationships" id="299" r:id="R7e42362b98fd4a3c"/>
    <p:sldId xmlns:r="http://schemas.openxmlformats.org/officeDocument/2006/relationships" id="300" r:id="Rc2460777b29f422f"/>
    <p:sldId xmlns:r="http://schemas.openxmlformats.org/officeDocument/2006/relationships" id="301" r:id="R50e94c9c6f5f4c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0baf60829b4c32" /><Relationship Type="http://schemas.openxmlformats.org/officeDocument/2006/relationships/slideMaster" Target="/ppt/slideMasters/slideMaster1.xml" Id="Raf4efc1329574cc6" /><Relationship Type="http://schemas.openxmlformats.org/officeDocument/2006/relationships/notesMaster" Target="/ppt/notesMasters/notesMaster1.xml" Id="Rb78346e23ae2495c" /><Relationship Type="http://schemas.openxmlformats.org/officeDocument/2006/relationships/presProps" Target="/ppt/presProps.xml" Id="R368ae9d6d3e54b32" /><Relationship Type="http://schemas.openxmlformats.org/officeDocument/2006/relationships/tableStyles" Target="/ppt/tableStyles.xml" Id="R59c67027b5794ca7" /><Relationship Type="http://schemas.openxmlformats.org/officeDocument/2006/relationships/slide" Target="/ppt/slides/slide1.xml" Id="R3252f571d8044aa3" /><Relationship Type="http://schemas.openxmlformats.org/officeDocument/2006/relationships/slide" Target="/ppt/slides/slide2.xml" Id="R52b3fa43c7e4439a" /><Relationship Type="http://schemas.openxmlformats.org/officeDocument/2006/relationships/slide" Target="/ppt/slides/slide3.xml" Id="R48f16865eb9840ae" /><Relationship Type="http://schemas.openxmlformats.org/officeDocument/2006/relationships/slide" Target="/ppt/slides/slide4.xml" Id="R0ce5a433a20c4293" /><Relationship Type="http://schemas.openxmlformats.org/officeDocument/2006/relationships/slide" Target="/ppt/slides/slide5.xml" Id="Rbe11d522c0954ac1" /><Relationship Type="http://schemas.openxmlformats.org/officeDocument/2006/relationships/slide" Target="/ppt/slides/slide6.xml" Id="Rfe15f0601a4b4509" /><Relationship Type="http://schemas.openxmlformats.org/officeDocument/2006/relationships/slide" Target="/ppt/slides/slide7.xml" Id="Rc27f68438fa34f34" /><Relationship Type="http://schemas.openxmlformats.org/officeDocument/2006/relationships/slide" Target="/ppt/slides/slide8.xml" Id="R54c0aa55b8464a38" /><Relationship Type="http://schemas.openxmlformats.org/officeDocument/2006/relationships/slide" Target="/ppt/slides/slide9.xml" Id="R3bf59c50df5c4355" /><Relationship Type="http://schemas.openxmlformats.org/officeDocument/2006/relationships/slide" Target="/ppt/slides/slide10.xml" Id="Re22d1a3e73934987" /><Relationship Type="http://schemas.openxmlformats.org/officeDocument/2006/relationships/slide" Target="/ppt/slides/slide11.xml" Id="R784c2aaccf5949bd" /><Relationship Type="http://schemas.openxmlformats.org/officeDocument/2006/relationships/slide" Target="/ppt/slides/slide12.xml" Id="R9ec691287d62453f" /><Relationship Type="http://schemas.openxmlformats.org/officeDocument/2006/relationships/slide" Target="/ppt/slides/slide13.xml" Id="R96669fea39a84468" /><Relationship Type="http://schemas.openxmlformats.org/officeDocument/2006/relationships/slide" Target="/ppt/slides/slide14.xml" Id="R3b3362ad07a947f8" /><Relationship Type="http://schemas.openxmlformats.org/officeDocument/2006/relationships/slide" Target="/ppt/slides/slide15.xml" Id="R01cb310f0f0b4d01" /><Relationship Type="http://schemas.openxmlformats.org/officeDocument/2006/relationships/slide" Target="/ppt/slides/slide16.xml" Id="Rd2341ca4d24644a4" /><Relationship Type="http://schemas.openxmlformats.org/officeDocument/2006/relationships/slide" Target="/ppt/slides/slide17.xml" Id="R9570b71b45444625" /><Relationship Type="http://schemas.openxmlformats.org/officeDocument/2006/relationships/slide" Target="/ppt/slides/slide18.xml" Id="Re8eb8a4f315d4731" /><Relationship Type="http://schemas.openxmlformats.org/officeDocument/2006/relationships/slide" Target="/ppt/slides/slide19.xml" Id="R8211080223a44d47" /><Relationship Type="http://schemas.openxmlformats.org/officeDocument/2006/relationships/slide" Target="/ppt/slides/slide20.xml" Id="R15690972e6f6433e" /><Relationship Type="http://schemas.openxmlformats.org/officeDocument/2006/relationships/slide" Target="/ppt/slides/slide21.xml" Id="R01d608d12a544299" /><Relationship Type="http://schemas.openxmlformats.org/officeDocument/2006/relationships/slide" Target="/ppt/slides/slide22.xml" Id="Rdb3009305d6a46cc" /><Relationship Type="http://schemas.openxmlformats.org/officeDocument/2006/relationships/slide" Target="/ppt/slides/slide23.xml" Id="R6b3658c5800c4749" /><Relationship Type="http://schemas.openxmlformats.org/officeDocument/2006/relationships/slide" Target="/ppt/slides/slide24.xml" Id="Rfb8a4f08fc2d4f75" /><Relationship Type="http://schemas.openxmlformats.org/officeDocument/2006/relationships/slide" Target="/ppt/slides/slide25.xml" Id="Re6e2d00d13da4af9" /><Relationship Type="http://schemas.openxmlformats.org/officeDocument/2006/relationships/slide" Target="/ppt/slides/slide26.xml" Id="Ra807a8d8561a45cd" /><Relationship Type="http://schemas.openxmlformats.org/officeDocument/2006/relationships/slide" Target="/ppt/slides/slide27.xml" Id="R323279d71d0242b9" /><Relationship Type="http://schemas.openxmlformats.org/officeDocument/2006/relationships/slide" Target="/ppt/slides/slide28.xml" Id="Ree167c7ba482434c" /><Relationship Type="http://schemas.openxmlformats.org/officeDocument/2006/relationships/slide" Target="/ppt/slides/slide29.xml" Id="R2b1e7657ed0040fb" /><Relationship Type="http://schemas.openxmlformats.org/officeDocument/2006/relationships/slide" Target="/ppt/slides/slide30.xml" Id="R8d12b3385c834156" /><Relationship Type="http://schemas.openxmlformats.org/officeDocument/2006/relationships/slide" Target="/ppt/slides/slide31.xml" Id="R6b9b064e82a348e2" /><Relationship Type="http://schemas.openxmlformats.org/officeDocument/2006/relationships/slide" Target="/ppt/slides/slide32.xml" Id="Rb4f43b2045e24c5f" /><Relationship Type="http://schemas.openxmlformats.org/officeDocument/2006/relationships/slide" Target="/ppt/slides/slide33.xml" Id="R97285cf9e71f44be" /><Relationship Type="http://schemas.openxmlformats.org/officeDocument/2006/relationships/slide" Target="/ppt/slides/slide34.xml" Id="R87ea687481334c6f" /><Relationship Type="http://schemas.openxmlformats.org/officeDocument/2006/relationships/slide" Target="/ppt/slides/slide35.xml" Id="R45d9e775add44b3d" /><Relationship Type="http://schemas.openxmlformats.org/officeDocument/2006/relationships/slide" Target="/ppt/slides/slide36.xml" Id="R9a6254e737b14362" /><Relationship Type="http://schemas.openxmlformats.org/officeDocument/2006/relationships/slide" Target="/ppt/slides/slide37.xml" Id="R4e3f9ac6ef2a4d23" /><Relationship Type="http://schemas.openxmlformats.org/officeDocument/2006/relationships/slide" Target="/ppt/slides/slide38.xml" Id="Rce97f0f051e240b2" /><Relationship Type="http://schemas.openxmlformats.org/officeDocument/2006/relationships/slide" Target="/ppt/slides/slide39.xml" Id="R8c7c885054454fab" /><Relationship Type="http://schemas.openxmlformats.org/officeDocument/2006/relationships/slide" Target="/ppt/slides/slide40.xml" Id="R270ec748cdd84ad1" /><Relationship Type="http://schemas.openxmlformats.org/officeDocument/2006/relationships/slide" Target="/ppt/slides/slide41.xml" Id="Rcbc9d217c91443be" /><Relationship Type="http://schemas.openxmlformats.org/officeDocument/2006/relationships/slide" Target="/ppt/slides/slide42.xml" Id="Rd8f461c89beb480c" /><Relationship Type="http://schemas.openxmlformats.org/officeDocument/2006/relationships/slide" Target="/ppt/slides/slide43.xml" Id="R36b107dd367c4fff" /><Relationship Type="http://schemas.openxmlformats.org/officeDocument/2006/relationships/slide" Target="/ppt/slides/slide44.xml" Id="R7e42362b98fd4a3c" /><Relationship Type="http://schemas.openxmlformats.org/officeDocument/2006/relationships/slide" Target="/ppt/slides/slide45.xml" Id="Rc2460777b29f422f" /><Relationship Type="http://schemas.openxmlformats.org/officeDocument/2006/relationships/slide" Target="/ppt/slides/slide46.xml" Id="R50e94c9c6f5f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58df20a0f42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0675d4d70c404a" /><Relationship Type="http://schemas.openxmlformats.org/officeDocument/2006/relationships/notesMaster" Target="/ppt/notesMasters/notesMaster1.xml" Id="R8d64ab209e594d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16d61ba924ad7" /><Relationship Type="http://schemas.openxmlformats.org/officeDocument/2006/relationships/notesMaster" Target="/ppt/notesMasters/notesMaster1.xml" Id="Rd2df3848343449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86b730875a44b4" /><Relationship Type="http://schemas.openxmlformats.org/officeDocument/2006/relationships/notesMaster" Target="/ppt/notesMasters/notesMaster1.xml" Id="R1c74917bdf9143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ccfd786844709" /><Relationship Type="http://schemas.openxmlformats.org/officeDocument/2006/relationships/notesMaster" Target="/ppt/notesMasters/notesMaster1.xml" Id="Rce4b58ff27f441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905572b4324240" /><Relationship Type="http://schemas.openxmlformats.org/officeDocument/2006/relationships/notesMaster" Target="/ppt/notesMasters/notesMaster1.xml" Id="R4badb850e4cc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8d1f97b93a45e4" /><Relationship Type="http://schemas.openxmlformats.org/officeDocument/2006/relationships/notesMaster" Target="/ppt/notesMasters/notesMaster1.xml" Id="Rc49bdf362e994a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c3a866b8024da5" /><Relationship Type="http://schemas.openxmlformats.org/officeDocument/2006/relationships/notesMaster" Target="/ppt/notesMasters/notesMaster1.xml" Id="R517596d3fec240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3d1de4c3834483" /><Relationship Type="http://schemas.openxmlformats.org/officeDocument/2006/relationships/notesMaster" Target="/ppt/notesMasters/notesMaster1.xml" Id="R75f364673de242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d6e4f7a3954994" /><Relationship Type="http://schemas.openxmlformats.org/officeDocument/2006/relationships/notesMaster" Target="/ppt/notesMasters/notesMaster1.xml" Id="Rf58abd60103249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e8c0b27bc04465" /><Relationship Type="http://schemas.openxmlformats.org/officeDocument/2006/relationships/notesMaster" Target="/ppt/notesMasters/notesMaster1.xml" Id="R92fb6084090a48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d1e9c8a73c4985" /><Relationship Type="http://schemas.openxmlformats.org/officeDocument/2006/relationships/notesMaster" Target="/ppt/notesMasters/notesMaster1.xml" Id="Ra1841049b05c43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0df6ea3ea4006" /><Relationship Type="http://schemas.openxmlformats.org/officeDocument/2006/relationships/notesMaster" Target="/ppt/notesMasters/notesMaster1.xml" Id="Rce2acec9138a4a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6cd71ec14d4326" /><Relationship Type="http://schemas.openxmlformats.org/officeDocument/2006/relationships/notesMaster" Target="/ppt/notesMasters/notesMaster1.xml" Id="R3f41f7d2ab6649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8e2670df9b4612" /><Relationship Type="http://schemas.openxmlformats.org/officeDocument/2006/relationships/notesMaster" Target="/ppt/notesMasters/notesMaster1.xml" Id="R3a8f6c76389f42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95e2c5ecc44456" /><Relationship Type="http://schemas.openxmlformats.org/officeDocument/2006/relationships/notesMaster" Target="/ppt/notesMasters/notesMaster1.xml" Id="R0881ab58c43d48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dad589cabf4052" /><Relationship Type="http://schemas.openxmlformats.org/officeDocument/2006/relationships/notesMaster" Target="/ppt/notesMasters/notesMaster1.xml" Id="Reb8d2e02525547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0a4a6b6c6f409c" /><Relationship Type="http://schemas.openxmlformats.org/officeDocument/2006/relationships/notesMaster" Target="/ppt/notesMasters/notesMaster1.xml" Id="Rd750e3cd64b44f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99072318c743b1" /><Relationship Type="http://schemas.openxmlformats.org/officeDocument/2006/relationships/notesMaster" Target="/ppt/notesMasters/notesMaster1.xml" Id="R4c592817683944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cd0efd2959432d" /><Relationship Type="http://schemas.openxmlformats.org/officeDocument/2006/relationships/notesMaster" Target="/ppt/notesMasters/notesMaster1.xml" Id="Rf5465b977eb847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528b2efbb2479e" /><Relationship Type="http://schemas.openxmlformats.org/officeDocument/2006/relationships/notesMaster" Target="/ppt/notesMasters/notesMaster1.xml" Id="Rcf721eef7263475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2fcbba3d8ba48a9" /><Relationship Type="http://schemas.openxmlformats.org/officeDocument/2006/relationships/notesMaster" Target="/ppt/notesMasters/notesMaster1.xml" Id="Rf06723b12d9844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078b9053c14956" /><Relationship Type="http://schemas.openxmlformats.org/officeDocument/2006/relationships/notesMaster" Target="/ppt/notesMasters/notesMaster1.xml" Id="Re404512bc2a648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4d3b823a9494a7c" /><Relationship Type="http://schemas.openxmlformats.org/officeDocument/2006/relationships/notesMaster" Target="/ppt/notesMasters/notesMaster1.xml" Id="Rd87564008a0f4e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8f8fbc2cd54bb4" /><Relationship Type="http://schemas.openxmlformats.org/officeDocument/2006/relationships/notesMaster" Target="/ppt/notesMasters/notesMaster1.xml" Id="Rbd01bcc60bb349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ecc14a3cc62435f" /><Relationship Type="http://schemas.openxmlformats.org/officeDocument/2006/relationships/notesMaster" Target="/ppt/notesMasters/notesMaster1.xml" Id="Re9a23a36c22b437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f007d9102c4369" /><Relationship Type="http://schemas.openxmlformats.org/officeDocument/2006/relationships/notesMaster" Target="/ppt/notesMasters/notesMaster1.xml" Id="Rcfe52001a57247c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10dbd6dee340bb" /><Relationship Type="http://schemas.openxmlformats.org/officeDocument/2006/relationships/notesMaster" Target="/ppt/notesMasters/notesMaster1.xml" Id="Ra581702537d748f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ff35ab68dd4560" /><Relationship Type="http://schemas.openxmlformats.org/officeDocument/2006/relationships/notesMaster" Target="/ppt/notesMasters/notesMaster1.xml" Id="R1f15a7e094704ad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59a990a4cf45f5" /><Relationship Type="http://schemas.openxmlformats.org/officeDocument/2006/relationships/notesMaster" Target="/ppt/notesMasters/notesMaster1.xml" Id="Re244aafa37c5494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a081d4ab92e4b1a" /><Relationship Type="http://schemas.openxmlformats.org/officeDocument/2006/relationships/notesMaster" Target="/ppt/notesMasters/notesMaster1.xml" Id="Rf4ab7f4101a2404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0ef598b518d476b" /><Relationship Type="http://schemas.openxmlformats.org/officeDocument/2006/relationships/notesMaster" Target="/ppt/notesMasters/notesMaster1.xml" Id="R43dd3aa4a3994ad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7baf644ca214431" /><Relationship Type="http://schemas.openxmlformats.org/officeDocument/2006/relationships/notesMaster" Target="/ppt/notesMasters/notesMaster1.xml" Id="Rde8eee3b8e8d4c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be9e2d63f1e4eb7" /><Relationship Type="http://schemas.openxmlformats.org/officeDocument/2006/relationships/notesMaster" Target="/ppt/notesMasters/notesMaster1.xml" Id="Rb9a19d1513c04d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74e49cb5d68493d" /><Relationship Type="http://schemas.openxmlformats.org/officeDocument/2006/relationships/notesMaster" Target="/ppt/notesMasters/notesMaster1.xml" Id="Rfb5a49b1d67d469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58f452176aa4c32" /><Relationship Type="http://schemas.openxmlformats.org/officeDocument/2006/relationships/notesMaster" Target="/ppt/notesMasters/notesMaster1.xml" Id="R8d105e39633047c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883830184fe420e" /><Relationship Type="http://schemas.openxmlformats.org/officeDocument/2006/relationships/notesMaster" Target="/ppt/notesMasters/notesMaster1.xml" Id="Rdf377b22d1e3490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909e8bb469643b1" /><Relationship Type="http://schemas.openxmlformats.org/officeDocument/2006/relationships/notesMaster" Target="/ppt/notesMasters/notesMaster1.xml" Id="R463bc87276b94ce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3af237fbf84187" /><Relationship Type="http://schemas.openxmlformats.org/officeDocument/2006/relationships/notesMaster" Target="/ppt/notesMasters/notesMaster1.xml" Id="R796f9a07624548e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50305f1d904552" /><Relationship Type="http://schemas.openxmlformats.org/officeDocument/2006/relationships/notesMaster" Target="/ppt/notesMasters/notesMaster1.xml" Id="R243c6ac54962462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918f3f4932e4a93" /><Relationship Type="http://schemas.openxmlformats.org/officeDocument/2006/relationships/notesMaster" Target="/ppt/notesMasters/notesMaster1.xml" Id="R8a13acf1991a4f1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df4b6412c814d3b" /><Relationship Type="http://schemas.openxmlformats.org/officeDocument/2006/relationships/notesMaster" Target="/ppt/notesMasters/notesMaster1.xml" Id="Rf6740f78dd7642d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44fff95c8f641c3" /><Relationship Type="http://schemas.openxmlformats.org/officeDocument/2006/relationships/notesMaster" Target="/ppt/notesMasters/notesMaster1.xml" Id="Ra26833b4783347a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4264795e9a247c6" /><Relationship Type="http://schemas.openxmlformats.org/officeDocument/2006/relationships/notesMaster" Target="/ppt/notesMasters/notesMaster1.xml" Id="R20520c55747a4d0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545dc6598864487" /><Relationship Type="http://schemas.openxmlformats.org/officeDocument/2006/relationships/notesMaster" Target="/ppt/notesMasters/notesMaster1.xml" Id="R42851b478c0e476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dbaef2729a241d4" /><Relationship Type="http://schemas.openxmlformats.org/officeDocument/2006/relationships/notesMaster" Target="/ppt/notesMasters/notesMaster1.xml" Id="Race304c4ff904c6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2ca29e8bc574c0d" /><Relationship Type="http://schemas.openxmlformats.org/officeDocument/2006/relationships/notesMaster" Target="/ppt/notesMasters/notesMaster1.xml" Id="R901915c53c6c47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039f8a2a040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0c13728ce94a58" /><Relationship Type="http://schemas.openxmlformats.org/officeDocument/2006/relationships/slideLayout" Target="/ppt/slideLayouts/slideLayout1.xml" Id="Rdd2aa9b0dc6b4c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aa9b0dc6b4c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9239bf75840cc" /><Relationship Type="http://schemas.openxmlformats.org/officeDocument/2006/relationships/image" Target="/ppt/media/image.png" Id="Ra11a46ddca7f453f" /><Relationship Type="http://schemas.openxmlformats.org/officeDocument/2006/relationships/hyperlink" Target="https://petrnikitin20.github.io/RL_education/" TargetMode="External" Id="Rb8605960cdd143ac" /><Relationship Type="http://schemas.openxmlformats.org/officeDocument/2006/relationships/notesSlide" Target="/ppt/notesSlides/notesSlide1.xml" Id="R9c68a38808194a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069452d65404e" /><Relationship Type="http://schemas.openxmlformats.org/officeDocument/2006/relationships/image" Target="/ppt/media/image2.png" Id="Rec9d3650ed4f4cc1" /><Relationship Type="http://schemas.openxmlformats.org/officeDocument/2006/relationships/hyperlink" Target="https://petrnikitin20.github.io/RL_education/" TargetMode="External" Id="Ref61fdf4aef84b6a" /><Relationship Type="http://schemas.openxmlformats.org/officeDocument/2006/relationships/notesSlide" Target="/ppt/notesSlides/notesSlide2.xml" Id="Ra582faeba3c248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af1fa80cc481f" /><Relationship Type="http://schemas.openxmlformats.org/officeDocument/2006/relationships/image" Target="/ppt/media/image3.png" Id="R499088545800411b" /><Relationship Type="http://schemas.openxmlformats.org/officeDocument/2006/relationships/hyperlink" Target="https://petrnikitin20.github.io/RL_education/" TargetMode="External" Id="R9a10f88346814185" /><Relationship Type="http://schemas.openxmlformats.org/officeDocument/2006/relationships/notesSlide" Target="/ppt/notesSlides/notesSlide3.xml" Id="R4d04475f9778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d8c9b48c0425c" /><Relationship Type="http://schemas.openxmlformats.org/officeDocument/2006/relationships/image" Target="/ppt/media/image4.png" Id="R401e920a92c94515" /><Relationship Type="http://schemas.openxmlformats.org/officeDocument/2006/relationships/hyperlink" Target="https://petrnikitin20.github.io/RL_education/" TargetMode="External" Id="Re7224343df7b43d3" /><Relationship Type="http://schemas.openxmlformats.org/officeDocument/2006/relationships/notesSlide" Target="/ppt/notesSlides/notesSlide4.xml" Id="Rf3b3adeddae741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715d8e4e44377" /><Relationship Type="http://schemas.openxmlformats.org/officeDocument/2006/relationships/image" Target="/ppt/media/image5.png" Id="R25a19bccc30b41d9" /><Relationship Type="http://schemas.openxmlformats.org/officeDocument/2006/relationships/hyperlink" Target="https://petrnikitin20.github.io/RL_education/" TargetMode="External" Id="R19da4a2ee1ea4c5d" /><Relationship Type="http://schemas.openxmlformats.org/officeDocument/2006/relationships/notesSlide" Target="/ppt/notesSlides/notesSlide5.xml" Id="R840cd61c60974c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b3a4472d44296" /><Relationship Type="http://schemas.openxmlformats.org/officeDocument/2006/relationships/image" Target="/ppt/media/image6.png" Id="Rc0bb4b743b99432d" /><Relationship Type="http://schemas.openxmlformats.org/officeDocument/2006/relationships/hyperlink" Target="https://petrnikitin20.github.io/RL_education/" TargetMode="External" Id="Rfd91d4d46bfc4a9c" /><Relationship Type="http://schemas.openxmlformats.org/officeDocument/2006/relationships/notesSlide" Target="/ppt/notesSlides/notesSlide6.xml" Id="R2c7ac247f5a64b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bf5eed6fe42ef" /><Relationship Type="http://schemas.openxmlformats.org/officeDocument/2006/relationships/image" Target="/ppt/media/image7.png" Id="R32f85e6f2b994379" /><Relationship Type="http://schemas.openxmlformats.org/officeDocument/2006/relationships/hyperlink" Target="https://petrnikitin20.github.io/RL_education/" TargetMode="External" Id="R6c3925941b9f4443" /><Relationship Type="http://schemas.openxmlformats.org/officeDocument/2006/relationships/notesSlide" Target="/ppt/notesSlides/notesSlide7.xml" Id="Rcc76aa158e9641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63510e1334b41" /><Relationship Type="http://schemas.openxmlformats.org/officeDocument/2006/relationships/image" Target="/ppt/media/image8.png" Id="R202dbe4393644657" /><Relationship Type="http://schemas.openxmlformats.org/officeDocument/2006/relationships/hyperlink" Target="https://petrnikitin20.github.io/RL_education/" TargetMode="External" Id="R2b5ea67accff4b75" /><Relationship Type="http://schemas.openxmlformats.org/officeDocument/2006/relationships/notesSlide" Target="/ppt/notesSlides/notesSlide8.xml" Id="Rcd10953836a7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3c2778b414b12" /><Relationship Type="http://schemas.openxmlformats.org/officeDocument/2006/relationships/image" Target="/ppt/media/image9.png" Id="Rb6b5644479944d3e" /><Relationship Type="http://schemas.openxmlformats.org/officeDocument/2006/relationships/hyperlink" Target="https://petrnikitin20.github.io/RL_education/" TargetMode="External" Id="R40aafa15a4a3488c" /><Relationship Type="http://schemas.openxmlformats.org/officeDocument/2006/relationships/notesSlide" Target="/ppt/notesSlides/notesSlide9.xml" Id="R5c44f462e4bc49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9fe5513cf40da" /><Relationship Type="http://schemas.openxmlformats.org/officeDocument/2006/relationships/image" Target="/ppt/media/image10.png" Id="R0110979c79e94dfa" /><Relationship Type="http://schemas.openxmlformats.org/officeDocument/2006/relationships/hyperlink" Target="https://petrnikitin20.github.io/RL_education/" TargetMode="External" Id="Rf134ac83dea144a0" /><Relationship Type="http://schemas.openxmlformats.org/officeDocument/2006/relationships/notesSlide" Target="/ppt/notesSlides/notesSlide10.xml" Id="R1198b8d957c347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5c585341b4030" /><Relationship Type="http://schemas.openxmlformats.org/officeDocument/2006/relationships/image" Target="/ppt/media/image11.png" Id="Rf63ecdcba1b14251" /><Relationship Type="http://schemas.openxmlformats.org/officeDocument/2006/relationships/hyperlink" Target="https://petrnikitin20.github.io/RL_education/" TargetMode="External" Id="R914044643dac454f" /><Relationship Type="http://schemas.openxmlformats.org/officeDocument/2006/relationships/notesSlide" Target="/ppt/notesSlides/notesSlide11.xml" Id="R81f2085f842242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82c51f3dd46be" /><Relationship Type="http://schemas.openxmlformats.org/officeDocument/2006/relationships/image" Target="/ppt/media/image12.png" Id="Rfe4eb870b022434a" /><Relationship Type="http://schemas.openxmlformats.org/officeDocument/2006/relationships/hyperlink" Target="https://petrnikitin20.github.io/RL_education/" TargetMode="External" Id="R174ce026d933466f" /><Relationship Type="http://schemas.openxmlformats.org/officeDocument/2006/relationships/notesSlide" Target="/ppt/notesSlides/notesSlide12.xml" Id="R048cd1e1b7ba40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d0ec152741af" /><Relationship Type="http://schemas.openxmlformats.org/officeDocument/2006/relationships/image" Target="/ppt/media/image13.png" Id="R380f91b88350426a" /><Relationship Type="http://schemas.openxmlformats.org/officeDocument/2006/relationships/hyperlink" Target="https://petrnikitin20.github.io/RL_education/" TargetMode="External" Id="R245717a8580449c1" /><Relationship Type="http://schemas.openxmlformats.org/officeDocument/2006/relationships/notesSlide" Target="/ppt/notesSlides/notesSlide13.xml" Id="Rbb230c1285a34b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0901c70f74f5a" /><Relationship Type="http://schemas.openxmlformats.org/officeDocument/2006/relationships/image" Target="/ppt/media/image14.png" Id="Ra60fafbb3a524722" /><Relationship Type="http://schemas.openxmlformats.org/officeDocument/2006/relationships/image" Target="/ppt/media/image15.png" Id="Re58571a64a5444c4" /><Relationship Type="http://schemas.openxmlformats.org/officeDocument/2006/relationships/hyperlink" Target="https://petrnikitin20.github.io/RL_education/" TargetMode="External" Id="R2a01efa962724932" /><Relationship Type="http://schemas.openxmlformats.org/officeDocument/2006/relationships/notesSlide" Target="/ppt/notesSlides/notesSlide14.xml" Id="R975b908345f44b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b52e8f2334e4c" /><Relationship Type="http://schemas.openxmlformats.org/officeDocument/2006/relationships/image" Target="/ppt/media/image16.png" Id="R7a849e5b45fb4a62" /><Relationship Type="http://schemas.openxmlformats.org/officeDocument/2006/relationships/chart" Target="/ppt/slides/charts/chart1.xml" Id="R5fafdbf9e567413a" /><Relationship Type="http://schemas.openxmlformats.org/officeDocument/2006/relationships/hyperlink" Target="https://petrnikitin20.github.io/RL_education/" TargetMode="External" Id="R3df7dfa2558c4efd" /><Relationship Type="http://schemas.openxmlformats.org/officeDocument/2006/relationships/notesSlide" Target="/ppt/notesSlides/notesSlide15.xml" Id="Reaef88f62b3848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7c6c81a584638" /><Relationship Type="http://schemas.openxmlformats.org/officeDocument/2006/relationships/image" Target="/ppt/media/image17.png" Id="R85d27c9f14a641af" /><Relationship Type="http://schemas.openxmlformats.org/officeDocument/2006/relationships/hyperlink" Target="https://petrnikitin20.github.io/RL_education/" TargetMode="External" Id="Rc7977d45b9514d93" /><Relationship Type="http://schemas.openxmlformats.org/officeDocument/2006/relationships/notesSlide" Target="/ppt/notesSlides/notesSlide16.xml" Id="Ra2321739aadb4d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405947b564a1a" /><Relationship Type="http://schemas.openxmlformats.org/officeDocument/2006/relationships/image" Target="/ppt/media/image18.png" Id="Re7877494413645e7" /><Relationship Type="http://schemas.openxmlformats.org/officeDocument/2006/relationships/hyperlink" Target="https://petrnikitin20.github.io/RL_education/" TargetMode="External" Id="Rd3ed96fde7b947a5" /><Relationship Type="http://schemas.openxmlformats.org/officeDocument/2006/relationships/notesSlide" Target="/ppt/notesSlides/notesSlide17.xml" Id="Rdfdbac826a0b45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5d011cc7542ea" /><Relationship Type="http://schemas.openxmlformats.org/officeDocument/2006/relationships/image" Target="/ppt/media/image19.png" Id="R121e46c9924b4e16" /><Relationship Type="http://schemas.openxmlformats.org/officeDocument/2006/relationships/hyperlink" Target="https://petrnikitin20.github.io/RL_education/" TargetMode="External" Id="Ra436918f05b14dec" /><Relationship Type="http://schemas.openxmlformats.org/officeDocument/2006/relationships/notesSlide" Target="/ppt/notesSlides/notesSlide18.xml" Id="Rb36a636ac28646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010a5a48241a5" /><Relationship Type="http://schemas.openxmlformats.org/officeDocument/2006/relationships/image" Target="/ppt/media/image20.png" Id="R051665f77a4c4a29" /><Relationship Type="http://schemas.openxmlformats.org/officeDocument/2006/relationships/hyperlink" Target="https://petrnikitin20.github.io/RL_education/" TargetMode="External" Id="R29c2f9f36bd24a0a" /><Relationship Type="http://schemas.openxmlformats.org/officeDocument/2006/relationships/notesSlide" Target="/ppt/notesSlides/notesSlide19.xml" Id="R0fcf22fd44344e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bbe39666d4bad" /><Relationship Type="http://schemas.openxmlformats.org/officeDocument/2006/relationships/image" Target="/ppt/media/image21.png" Id="R2031f2bbb8aa4fee" /><Relationship Type="http://schemas.openxmlformats.org/officeDocument/2006/relationships/hyperlink" Target="https://petrnikitin20.github.io/RL_education/" TargetMode="External" Id="R5c5d518fee034772" /><Relationship Type="http://schemas.openxmlformats.org/officeDocument/2006/relationships/notesSlide" Target="/ppt/notesSlides/notesSlide20.xml" Id="R460628cfeb3d40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f3306e17840cf" /><Relationship Type="http://schemas.openxmlformats.org/officeDocument/2006/relationships/image" Target="/ppt/media/image22.png" Id="Rbc6a85f93fd24179" /><Relationship Type="http://schemas.openxmlformats.org/officeDocument/2006/relationships/hyperlink" Target="https://petrnikitin20.github.io/RL_education/" TargetMode="External" Id="R0681f7ff9bc149b8" /><Relationship Type="http://schemas.openxmlformats.org/officeDocument/2006/relationships/notesSlide" Target="/ppt/notesSlides/notesSlide21.xml" Id="R39d45a8b563547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af177a02c4ada" /><Relationship Type="http://schemas.openxmlformats.org/officeDocument/2006/relationships/image" Target="/ppt/media/image23.png" Id="R96aa2ee428894d26" /><Relationship Type="http://schemas.openxmlformats.org/officeDocument/2006/relationships/image" Target="/ppt/media/image24.png" Id="R233bbbb955e0495f" /><Relationship Type="http://schemas.openxmlformats.org/officeDocument/2006/relationships/hyperlink" Target="https://petrnikitin20.github.io/RL_education/" TargetMode="External" Id="R6d661d85f3994df2" /><Relationship Type="http://schemas.openxmlformats.org/officeDocument/2006/relationships/notesSlide" Target="/ppt/notesSlides/notesSlide22.xml" Id="Rf77682c144524ff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d03731b624c05" /><Relationship Type="http://schemas.openxmlformats.org/officeDocument/2006/relationships/image" Target="/ppt/media/image25.png" Id="R10817a4760434c5c" /><Relationship Type="http://schemas.openxmlformats.org/officeDocument/2006/relationships/hyperlink" Target="https://petrnikitin20.github.io/RL_education/" TargetMode="External" Id="R6d2ad1fdbf004765" /><Relationship Type="http://schemas.openxmlformats.org/officeDocument/2006/relationships/notesSlide" Target="/ppt/notesSlides/notesSlide23.xml" Id="R3fc67a1563074d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7d633f7b64e72" /><Relationship Type="http://schemas.openxmlformats.org/officeDocument/2006/relationships/image" Target="/ppt/media/image26.png" Id="R27fa5f62226e4cef" /><Relationship Type="http://schemas.openxmlformats.org/officeDocument/2006/relationships/hyperlink" Target="https://petrnikitin20.github.io/RL_education/" TargetMode="External" Id="R473c701ec02b40e8" /><Relationship Type="http://schemas.openxmlformats.org/officeDocument/2006/relationships/notesSlide" Target="/ppt/notesSlides/notesSlide24.xml" Id="R19974780646947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aa2f6beb94492" /><Relationship Type="http://schemas.openxmlformats.org/officeDocument/2006/relationships/image" Target="/ppt/media/image27.png" Id="Rd4b3b04c2dd54b46" /><Relationship Type="http://schemas.openxmlformats.org/officeDocument/2006/relationships/hyperlink" Target="https://petrnikitin20.github.io/RL_education/" TargetMode="External" Id="Rd4873e765f8f47de" /><Relationship Type="http://schemas.openxmlformats.org/officeDocument/2006/relationships/notesSlide" Target="/ppt/notesSlides/notesSlide25.xml" Id="R7d26fd78573b49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317ecbae84a82" /><Relationship Type="http://schemas.openxmlformats.org/officeDocument/2006/relationships/image" Target="/ppt/media/image28.png" Id="R2891e7f3503d4b78" /><Relationship Type="http://schemas.openxmlformats.org/officeDocument/2006/relationships/hyperlink" Target="https://petrnikitin20.github.io/RL_education/" TargetMode="External" Id="R83ba4a990ff94085" /><Relationship Type="http://schemas.openxmlformats.org/officeDocument/2006/relationships/notesSlide" Target="/ppt/notesSlides/notesSlide26.xml" Id="Rbfaa5500a89145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45486db4427c" /><Relationship Type="http://schemas.openxmlformats.org/officeDocument/2006/relationships/image" Target="/ppt/media/image29.png" Id="R95f154c61ba14f66" /><Relationship Type="http://schemas.openxmlformats.org/officeDocument/2006/relationships/hyperlink" Target="https://petrnikitin20.github.io/RL_education/" TargetMode="External" Id="R24a525d5b0a64953" /><Relationship Type="http://schemas.openxmlformats.org/officeDocument/2006/relationships/notesSlide" Target="/ppt/notesSlides/notesSlide27.xml" Id="R5920d0cc989f472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6a831b444d8c" /><Relationship Type="http://schemas.openxmlformats.org/officeDocument/2006/relationships/image" Target="/ppt/media/image30.png" Id="R2828cba675ea4068" /><Relationship Type="http://schemas.openxmlformats.org/officeDocument/2006/relationships/hyperlink" Target="https://petrnikitin20.github.io/RL_education/" TargetMode="External" Id="Re3e8ba332f2f4559" /><Relationship Type="http://schemas.openxmlformats.org/officeDocument/2006/relationships/notesSlide" Target="/ppt/notesSlides/notesSlide28.xml" Id="Rd057842827ae4ef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c8338d2ce47b9" /><Relationship Type="http://schemas.openxmlformats.org/officeDocument/2006/relationships/image" Target="/ppt/media/image31.png" Id="R6c18a3af16544645" /><Relationship Type="http://schemas.openxmlformats.org/officeDocument/2006/relationships/hyperlink" Target="https://petrnikitin20.github.io/RL_education/" TargetMode="External" Id="R2da421ef0a174a19" /><Relationship Type="http://schemas.openxmlformats.org/officeDocument/2006/relationships/notesSlide" Target="/ppt/notesSlides/notesSlide29.xml" Id="Rebecad3f887045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bcb0fa00d4364" /><Relationship Type="http://schemas.openxmlformats.org/officeDocument/2006/relationships/image" Target="/ppt/media/image32.png" Id="Rfed6d967d69540be" /><Relationship Type="http://schemas.openxmlformats.org/officeDocument/2006/relationships/hyperlink" Target="https://petrnikitin20.github.io/RL_education/" TargetMode="External" Id="Rf089c82cfcc146aa" /><Relationship Type="http://schemas.openxmlformats.org/officeDocument/2006/relationships/notesSlide" Target="/ppt/notesSlides/notesSlide30.xml" Id="R9c62904a243a44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1a509bfab4f0e" /><Relationship Type="http://schemas.openxmlformats.org/officeDocument/2006/relationships/image" Target="/ppt/media/image33.png" Id="R804dea312f704041" /><Relationship Type="http://schemas.openxmlformats.org/officeDocument/2006/relationships/hyperlink" Target="https://petrnikitin20.github.io/RL_education/" TargetMode="External" Id="R143e268e1ef54953" /><Relationship Type="http://schemas.openxmlformats.org/officeDocument/2006/relationships/notesSlide" Target="/ppt/notesSlides/notesSlide31.xml" Id="R12bc2f0cc39f4f6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4c81eab034c78" /><Relationship Type="http://schemas.openxmlformats.org/officeDocument/2006/relationships/image" Target="/ppt/media/image34.png" Id="R294ca22ec43e42c6" /><Relationship Type="http://schemas.openxmlformats.org/officeDocument/2006/relationships/hyperlink" Target="https://petrnikitin20.github.io/RL_education/" TargetMode="External" Id="R13d0a98003504682" /><Relationship Type="http://schemas.openxmlformats.org/officeDocument/2006/relationships/notesSlide" Target="/ppt/notesSlides/notesSlide32.xml" Id="R18b4838fad004d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ecb11cf484bfd" /><Relationship Type="http://schemas.openxmlformats.org/officeDocument/2006/relationships/image" Target="/ppt/media/image35.png" Id="Rce67a4dfc465432f" /><Relationship Type="http://schemas.openxmlformats.org/officeDocument/2006/relationships/hyperlink" Target="https://petrnikitin20.github.io/RL_education/" TargetMode="External" Id="R50b09b87d0294662" /><Relationship Type="http://schemas.openxmlformats.org/officeDocument/2006/relationships/notesSlide" Target="/ppt/notesSlides/notesSlide33.xml" Id="Re0bb1eb38d24448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2d073edd14fb6" /><Relationship Type="http://schemas.openxmlformats.org/officeDocument/2006/relationships/image" Target="/ppt/media/image36.png" Id="R31446df8cf514eb8" /><Relationship Type="http://schemas.openxmlformats.org/officeDocument/2006/relationships/hyperlink" Target="https://petrnikitin20.github.io/RL_education/" TargetMode="External" Id="R9851ac4967ff462b" /><Relationship Type="http://schemas.openxmlformats.org/officeDocument/2006/relationships/notesSlide" Target="/ppt/notesSlides/notesSlide34.xml" Id="R038981de2cca494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619327eef42d5" /><Relationship Type="http://schemas.openxmlformats.org/officeDocument/2006/relationships/image" Target="/ppt/media/image37.png" Id="Rbea9f6b68aec42da" /><Relationship Type="http://schemas.openxmlformats.org/officeDocument/2006/relationships/image" Target="/ppt/media/image38.png" Id="Rebd3cbcc1ac94837" /><Relationship Type="http://schemas.openxmlformats.org/officeDocument/2006/relationships/hyperlink" Target="https://petrnikitin20.github.io/RL_education/" TargetMode="External" Id="Rc7bcd1ab0e50483a" /><Relationship Type="http://schemas.openxmlformats.org/officeDocument/2006/relationships/notesSlide" Target="/ppt/notesSlides/notesSlide35.xml" Id="R9cf4c31696b6430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8ca4a5303419e" /><Relationship Type="http://schemas.openxmlformats.org/officeDocument/2006/relationships/image" Target="/ppt/media/image39.png" Id="Rb6de4241c5d54244" /><Relationship Type="http://schemas.openxmlformats.org/officeDocument/2006/relationships/hyperlink" Target="https://github.com/AI4Finance-Foundation/FinRL" TargetMode="External" Id="R242bdb7893f14e7e" /><Relationship Type="http://schemas.openxmlformats.org/officeDocument/2006/relationships/hyperlink" Target="https://petrnikitin20.github.io/RL_education/" TargetMode="External" Id="R970edf86903d4e67" /><Relationship Type="http://schemas.openxmlformats.org/officeDocument/2006/relationships/notesSlide" Target="/ppt/notesSlides/notesSlide36.xml" Id="R1b73fe8c452847a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67ed1d0ce4994" /><Relationship Type="http://schemas.openxmlformats.org/officeDocument/2006/relationships/image" Target="/ppt/media/image40.png" Id="Reb4b235b636e459d" /><Relationship Type="http://schemas.openxmlformats.org/officeDocument/2006/relationships/hyperlink" Target="https://petrnikitin20.github.io/RL_education/" TargetMode="External" Id="Rd279dd74a4b546d4" /><Relationship Type="http://schemas.openxmlformats.org/officeDocument/2006/relationships/notesSlide" Target="/ppt/notesSlides/notesSlide37.xml" Id="R08368574b8074d8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6fa2e7d84e71" /><Relationship Type="http://schemas.openxmlformats.org/officeDocument/2006/relationships/image" Target="/ppt/media/image41.png" Id="Rd4e844de386c48e8" /><Relationship Type="http://schemas.openxmlformats.org/officeDocument/2006/relationships/hyperlink" Target="https://petrnikitin20.github.io/RL_education/" TargetMode="External" Id="Rdc084697dfd145e8" /><Relationship Type="http://schemas.openxmlformats.org/officeDocument/2006/relationships/notesSlide" Target="/ppt/notesSlides/notesSlide38.xml" Id="R4d3318f38dfa46d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87315a7344186" /><Relationship Type="http://schemas.openxmlformats.org/officeDocument/2006/relationships/image" Target="/ppt/media/image42.png" Id="R972e14ee2b344b97" /><Relationship Type="http://schemas.openxmlformats.org/officeDocument/2006/relationships/hyperlink" Target="https://petrnikitin20.github.io/RL_education/" TargetMode="External" Id="R96bb2b29990047da" /><Relationship Type="http://schemas.openxmlformats.org/officeDocument/2006/relationships/notesSlide" Target="/ppt/notesSlides/notesSlide39.xml" Id="R7d2374f015b74e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f085662744e52" /><Relationship Type="http://schemas.openxmlformats.org/officeDocument/2006/relationships/image" Target="/ppt/media/image43.png" Id="R10fead6896fd4ab2" /><Relationship Type="http://schemas.openxmlformats.org/officeDocument/2006/relationships/hyperlink" Target="https://petrnikitin20.github.io/RL_education/" TargetMode="External" Id="R31a6120a900d4436" /><Relationship Type="http://schemas.openxmlformats.org/officeDocument/2006/relationships/notesSlide" Target="/ppt/notesSlides/notesSlide40.xml" Id="R27cd42895baf440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6b00e0e094cea" /><Relationship Type="http://schemas.openxmlformats.org/officeDocument/2006/relationships/image" Target="/ppt/media/image44.png" Id="R84106efa2fa94d14" /><Relationship Type="http://schemas.openxmlformats.org/officeDocument/2006/relationships/hyperlink" Target="https://petrnikitin20.github.io/RL_education/" TargetMode="External" Id="R58b82242310c4c47" /><Relationship Type="http://schemas.openxmlformats.org/officeDocument/2006/relationships/notesSlide" Target="/ppt/notesSlides/notesSlide41.xml" Id="Rd11876b64b4e47d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d0813e89b4af5" /><Relationship Type="http://schemas.openxmlformats.org/officeDocument/2006/relationships/image" Target="/ppt/media/image45.png" Id="R841d6c07127046cb" /><Relationship Type="http://schemas.openxmlformats.org/officeDocument/2006/relationships/image" Target="/ppt/media/image46.png" Id="Rbdfac09299de4032" /><Relationship Type="http://schemas.openxmlformats.org/officeDocument/2006/relationships/hyperlink" Target="https://petrnikitin20.github.io/RL_education/" TargetMode="External" Id="Re82aaedcd0f4494f" /><Relationship Type="http://schemas.openxmlformats.org/officeDocument/2006/relationships/notesSlide" Target="/ppt/notesSlides/notesSlide42.xml" Id="Rded756e055394a9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b8333e4684adb" /><Relationship Type="http://schemas.openxmlformats.org/officeDocument/2006/relationships/image" Target="/ppt/media/image47.png" Id="Rd9fac62a5cf44476" /><Relationship Type="http://schemas.openxmlformats.org/officeDocument/2006/relationships/hyperlink" Target="https://petrnikitin20.github.io/RL_education/" TargetMode="External" Id="R1f2d4cad3c4f45e5" /><Relationship Type="http://schemas.openxmlformats.org/officeDocument/2006/relationships/notesSlide" Target="/ppt/notesSlides/notesSlide43.xml" Id="R62b4951b9ff24ce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13ad6dfd641f5" /><Relationship Type="http://schemas.openxmlformats.org/officeDocument/2006/relationships/image" Target="/ppt/media/image48.png" Id="Rf68d695096d84262" /><Relationship Type="http://schemas.openxmlformats.org/officeDocument/2006/relationships/hyperlink" Target="https://petrnikitin20.github.io/RL_education/" TargetMode="External" Id="R92ef8bef5110411a" /><Relationship Type="http://schemas.openxmlformats.org/officeDocument/2006/relationships/notesSlide" Target="/ppt/notesSlides/notesSlide44.xml" Id="Refa59d894c99404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8ac9367714f38" /><Relationship Type="http://schemas.openxmlformats.org/officeDocument/2006/relationships/image" Target="/ppt/media/image49.png" Id="Rdd00b9c2cbe946b8" /><Relationship Type="http://schemas.openxmlformats.org/officeDocument/2006/relationships/hyperlink" Target="http://incompleteideas.net/book/the-book-2nd.html" TargetMode="External" Id="R552b270dcf0e4a27" /><Relationship Type="http://schemas.openxmlformats.org/officeDocument/2006/relationships/hyperlink" Target="https://gymnasium.farama.org/main/api/env/" TargetMode="External" Id="Ra80609bbb8484dbe" /><Relationship Type="http://schemas.openxmlformats.org/officeDocument/2006/relationships/hyperlink" Target="https://doi.org/10.1038/nature14236" TargetMode="External" Id="Rbe691b3a615848a8" /><Relationship Type="http://schemas.openxmlformats.org/officeDocument/2006/relationships/hyperlink" Target="https://doi.org/10.1609/aaai.v30i1.10295" TargetMode="External" Id="R279640b78724444e" /><Relationship Type="http://schemas.openxmlformats.org/officeDocument/2006/relationships/hyperlink" Target="https://proceedings.mlr.press/v48/wangf16.html" TargetMode="External" Id="R28c56eaef1404591" /><Relationship Type="http://schemas.openxmlformats.org/officeDocument/2006/relationships/hyperlink" Target="https://petrnikitin20.github.io/RL_education/" TargetMode="External" Id="R5acaca6b7b5d42bc" /><Relationship Type="http://schemas.openxmlformats.org/officeDocument/2006/relationships/notesSlide" Target="/ppt/notesSlides/notesSlide45.xml" Id="Rceae4f497490469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4dae0b2f447d0" /><Relationship Type="http://schemas.openxmlformats.org/officeDocument/2006/relationships/image" Target="/ppt/media/image50.png" Id="Rbe3b67b22b5b4ecc" /><Relationship Type="http://schemas.openxmlformats.org/officeDocument/2006/relationships/hyperlink" Target="https://github.com/AI4Finance-Foundation/FinRL" TargetMode="External" Id="R097a652d27f34825" /><Relationship Type="http://schemas.openxmlformats.org/officeDocument/2006/relationships/hyperlink" Target="https://pettingzoo.farama.org/" TargetMode="External" Id="R4394f0f64c324544" /><Relationship Type="http://schemas.openxmlformats.org/officeDocument/2006/relationships/hyperlink" Target="https://proceedings.mlr.press/v80/rashid18a.html" TargetMode="External" Id="Rf902c76f8529438e" /><Relationship Type="http://schemas.openxmlformats.org/officeDocument/2006/relationships/hyperlink" Target="https://proceedings.neurips.cc/paper/2017/hash/68a9750337a418a86fe06c1991a1d64c-Abstract.html" TargetMode="External" Id="Rd754c237526249ba" /><Relationship Type="http://schemas.openxmlformats.org/officeDocument/2006/relationships/hyperlink" Target="https://arxiv.org/abs/2103.01955" TargetMode="External" Id="Re554034beb844fbb" /><Relationship Type="http://schemas.openxmlformats.org/officeDocument/2006/relationships/hyperlink" Target="https://petrnikitin20.github.io/RL_education/" TargetMode="External" Id="R170a371fe2bb42d2" /><Relationship Type="http://schemas.openxmlformats.org/officeDocument/2006/relationships/notesSlide" Target="/ppt/notesSlides/notesSlide46.xml" Id="Rc1112b35f0b54c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ε-greedy</c:v>
          </c:tx>
          <c:spPr>
            <a:ln xmlns:a="http://schemas.openxmlformats.org/drawingml/2006/main" w="28575">
              <a:solidFill>
                <a:srgbClr val="116A6E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0</c:v>
                </c:pt>
                <c:pt idx="1">
                  <c:v>0.36</c:v>
                </c:pt>
                <c:pt idx="2">
                  <c:v>0.44</c:v>
                </c:pt>
                <c:pt idx="3">
                  <c:v>0.49</c:v>
                </c:pt>
                <c:pt idx="4">
                  <c:v>0.52</c:v>
                </c:pt>
                <c:pt idx="5">
                  <c:v>0.54</c:v>
                </c:pt>
              </c:numCache>
            </c:numRef>
          </c:val>
        </c:ser>
        <c:ser>
          <c:idx val="1"/>
          <c:order val="1"/>
          <c:tx>
            <c:v>UCB1</c:v>
          </c:tx>
          <c:spPr>
            <a:ln xmlns:a="http://schemas.openxmlformats.org/drawingml/2006/main" w="28575">
              <a:solidFill>
                <a:srgbClr val="5E7E31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0</c:v>
                </c:pt>
                <c:pt idx="1">
                  <c:v>0.31</c:v>
                </c:pt>
                <c:pt idx="2">
                  <c:v>0.46</c:v>
                </c:pt>
                <c:pt idx="3">
                  <c:v>0.54</c:v>
                </c:pt>
                <c:pt idx="4">
                  <c:v>0.58</c:v>
                </c:pt>
                <c:pt idx="5">
                  <c:v>0.6</c:v>
                </c:pt>
              </c:numCache>
            </c:numRef>
          </c:val>
        </c:ser>
        <c:ser>
          <c:idx val="2"/>
          <c:order val="2"/>
          <c:tx>
            <c:v>Thompson</c:v>
          </c:tx>
          <c:spPr>
            <a:ln xmlns:a="http://schemas.openxmlformats.org/drawingml/2006/main" w="28575">
              <a:solidFill>
                <a:srgbClr val="A86716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numCache>
            </c:numRef>
          </c:cat>
          <c:val>
            <c:numRef>
              <c:f>'Chart Data'!$F$2:$F$7</c:f>
              <c:numCache>
                <c:formatCode>General</c:formatCode>
                <c:ptCount val="6"/>
                <c:pt idx="0">
                  <c:v>0</c:v>
                </c:pt>
                <c:pt idx="1">
                  <c:v>0.4</c:v>
                </c:pt>
                <c:pt idx="2">
                  <c:v>0.52</c:v>
                </c:pt>
                <c:pt idx="3">
                  <c:v>0.58</c:v>
                </c:pt>
                <c:pt idx="4">
                  <c:v>0.6</c:v>
                </c:pt>
                <c:pt idx="5">
                  <c:v>0.61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a46ddca7f45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E34FE-02FB-4501-AE55-A45E5F17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5114C-3F5B-45DC-BEB4-24C5042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8239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428C5-5602-4022-8479-8EF1FCA1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rPr>
              <a:t>ПОДГОТОВКА К ЛАБОРАТОРНОЙ РАБОТЕ ПО 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3C2FD-A4AA-46B5-B688-03530E24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04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От бандита и CEM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 Dueling Double DQN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 MARL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9EF9F-B604-48F7-A02D-DC78BF0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Формулы, модульный Python-код, разбор ошибок и интерактивные веб-демонстрации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20858-3D1A-4E99-924F-AF920F12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b8605960cdd143ac"/>
              </a:rPr>
              <a:t>petrnikitin20.github.io/RL_education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3838D-7247-4D4E-9268-CDBECF0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Никитин Пётр Владимирович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кафедра искусственного интеллекта Финансового университета · 2026</a:t>
            </a:r>
          </a:p>
        </p:txBody>
      </p:sp>
    </p:spTree>
    <p:extLst>
      <p:ext uri="{BB962C8B-B14F-4D97-AF65-F5344CB8AC3E}">
        <p14:creationId xmlns:p14="http://schemas.microsoft.com/office/powerpoint/2010/main" val="365616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d3650ed4f4c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5DA86-EB5D-499F-BD6E-C9765EC6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83FF6-F9A1-442C-B9DB-17C53D56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МАРШРУТ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FCB3D-7F8E-409D-ADAF-BB8359E1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F2FFC-A13B-4338-87D7-6EC30A52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Что студент должен уметь после занятия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53931-7276-491D-ABF3-BE6D7C80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повторять код, а объяснять причинно-следственную связь «среда → алгоритм → метрика».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D3D4C-4CDB-448F-8CA7-BD2F5F6B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56ABD-9C32-494F-AD19-D4DF6C3D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24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61722-9605-4FE2-A61A-D1CFCD71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Формализовать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FC947-14F0-4460-89A9-49DA0A97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Определить состояния, действия, награду, терминальные условия и горизонт.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04729-11E1-4839-BE8E-6E5AC315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04772-9E37-4502-A978-6316465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324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96FEA-3216-48D8-BDCC-0E00222A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Реализовать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024EA-1340-416C-92A9-73DF5641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Разделить среду, агента, память, обучение, оценку и визуализацию по модулям.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80122-A4A4-4CF1-933D-6BB16788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F676B-544F-4724-A6CF-42C251B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2324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8BE37-2C6F-4429-90A9-80AFD62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Проверить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9EE56-2579-4D63-9CDB-605599E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Сравнить с baseline, провести несколько запусков и оценить устойчивость.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D053A-F934-4441-879B-1EE55BE4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686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E5AE1-CD66-42C2-89D9-C07FD8D9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343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CF515-48BC-403A-A27B-9AF3BB79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Защитить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92C73-953D-44E9-893D-547DF30D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6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Показать гипотезу, абляцию, ограничения и воспроизводимую демонстрацию.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32355-FA54-4C41-A97A-4EA1794F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52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C281A-7CEC-4874-883F-79DA97A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задача → эксперимент → данные → обучение → оценка → вывод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076B6-1405-42A2-9B20-8074EDF2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логика лабораторного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B0BC2-33CD-41A7-9CA8-C5F140D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f61fdf4aef84b6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19549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08854580041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4EF1F-A520-4875-83B7-C7693182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7E2FF-C72F-4228-96C7-41CCFE71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МАРШРУТ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A6BD0-1892-437B-A30F-CB1F24A4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BA650-C36C-4199-B3DE-E4C5394E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Пять остановок: от решения к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4FE96-59A8-4E77-A847-D2691B82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следующий блок переиспользует идеи предыдущего.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14F42-8159-4154-8876-F714C135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766F8-3129-4203-A3E0-FE57F551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E06F4-4A20-495E-A5A2-01ED1B45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Основы 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C003D-C8BF-4A47-AFC9-C77C8460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695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MDP, политика, ценность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45066-3125-4FB2-8B02-428403BC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D318F-8EDB-4E6D-9211-0F2A7B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C7326-89F2-42AF-8AC5-FABB4C7B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76C13-FB08-4F3E-8F1A-A4D72061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4317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Бандит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42AEF-5793-42B0-860B-475FF987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695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explore vs exploit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43C13-BBC4-40DA-AE83-01770F15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65CD9-9DCB-42D1-8941-AF123CC2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42E95-6524-4730-B643-CCDB16F5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764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5A6F4-8B18-4686-81FA-315DF47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AC991-8697-49FE-9BE1-450C098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1695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обучение на элите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A4D7F-9644-4FA3-84EA-500EAB61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1E763-A8D0-448D-A32C-E9284EC2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E1F70-2BB6-4847-9C5D-63049A5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764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BFC3A8-91FF-46ED-AACC-2AFAA03A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4317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DQN / финансы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7DDCD9-1A84-40CE-BC15-06F234B2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81325"/>
            <a:ext cx="1695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аппроксимация 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D7298-828B-478B-B571-51BA02C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B02D58-2B40-44FD-B220-77881564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89473F-7603-43E5-A062-22CC57F0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76475"/>
            <a:ext cx="1695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94644-A0ED-4FDE-AEC0-63A8D3F0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317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52330C-6E64-4C35-B115-FE5B9A56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81325"/>
            <a:ext cx="1695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кооперация агентов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226E4-EC2A-4EF9-AFE6-89754F41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 каждом шаге: формула · модуль кода · типичная ошибка · демонстрация · метрика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E8117A-ADE5-4869-979E-DF9628BC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a10f8834681418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52577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e920a92c945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49F29-E129-411A-A9B2-30CF5E5C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2E52B-FE9B-4B44-848D-695A8FE7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77A2C-416C-476A-B6CF-3440FA5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ACE01-66D4-4E1F-9A4D-B22AEADB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Цикл обучения с подкреплением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F124F-767F-4142-BFE2-AF94E2F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Агент не получает правильный ответ — только последствия собственного действия.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3F096-1AE6-43FB-92C5-3FE553D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476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DBE2A-A838-4FC4-92C0-7A54357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АГЕНТ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политика πθ(a|s)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A7924-40E8-4C3A-A0C4-C390CED3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76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D7899-6F59-4529-819F-C084CFA6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СРЕДА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динамика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EE2CB-A7EB-428A-B9DC-DFADCB8B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действие aₜ  ─────────────────────→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9252B-3B71-4260-8D6E-C00A33E0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E7E3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E7E31"/>
                </a:solidFill>
                <a:latin typeface="Calibri"/>
                <a:ea typeface="Calibri"/>
                <a:cs typeface="Calibri"/>
              </a:rPr>
              <a:t>←──────── наблюдение sₜ₊₁, награда rₜ₊₁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770AF-8C0A-484A-A3B8-41EDF899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38625"/>
            <a:ext cx="542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F0292-DB44-496D-A0D7-7CF2271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529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maxπ  𝔼π[ Σₖ γᵏ rₜ₊ₖ₊₁ 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89C59-764A-468B-AFDD-D3B92106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053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оптимизируем не следующий шаг, а ожидаемый возврат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99B11-BEB3-42C4-ACD9-831A6FDA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7224343df7b43d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690673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19bccc30b41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ECF87-91E6-4D6B-9749-2D652A0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59F1B-B8E9-426A-B6C3-EE75A5F2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4A2D7-FD96-4759-B29A-72365EC9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50A2B-1699-4892-97B9-F49B4B9B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MDP: что именно мы моделируем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CEDD2-FC08-4E6F-B63E-6937A2C4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Марковское свойство: при известном текущем состоянии история не улучшает прогноз перехода.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0C79A-934B-4043-8275-094AEE0C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8FCA3-FE8E-4E05-AA14-E4A51D7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75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80101-0125-45DE-A0E9-EB42B681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состояния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3ECA2-1FC7-4630-B48D-72EDE7BA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752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агент знает сейчас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2FC6B-472D-47A7-94F4-EFB1D909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69796-7CE6-432B-964F-BD15573D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175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55852-81C9-49F9-A244-3769E61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действия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153C1-0EF1-420D-88B9-BB3B499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752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агент может выбрать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EB68C-8DD8-4A03-B26F-37F351E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152C6-AAB4-4DF0-BF65-09B2F223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175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FB55C-FEA3-480C-88F0-868662B6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переходы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79251-0025-4ADB-BA1F-03D5EB0F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752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 среда меняется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F9106-F53C-4E71-B5B7-70D35AA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5FA65-06C4-41F8-8CC4-E6ACFCB4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175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A1E05-CFD7-4959-8764-9B21A37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955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награда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E48EF-D738-4659-A655-A3112833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1752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Что считается полезным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54EBC-EC69-4AEE-902E-91BBCB3C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2E7BC7-0C40-43D9-A69C-EB9074A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28850"/>
            <a:ext cx="1752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704E23-9CD4-4CD5-86DC-2D58044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дисконт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1D2A6-8C5E-44A4-9E83-249EAFAF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752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Насколько важен будущий результат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47A4DF-6B1C-44FC-BA98-3B930087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EB7D7-98F3-4EE0-90E3-F5C04AB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67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 = ⟨S, A, P, R, γ⟩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3549E-7DB9-41B1-9F03-0589F276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435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для частично наблюдаемой среды используем наблюдение oₜ и внутреннее состояние/память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67C78-3A0A-4235-8C68-B5B43FBD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9da4a2ee1ea4c5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97593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b4b743b9943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6F67C-BFC5-4E58-AE07-FBE1F038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A0A50-C0B5-48FF-9459-D6F4156F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693E7-73C2-4F65-96C4-DB0414F5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F7B62-9905-4BE8-AF19-0A8914DB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Траектория, эпизод и возврат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BC308-E400-47F2-8611-393561C7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Одна награда редко говорит, было ли действие действительно хорошим.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7D03C-7C21-4216-AF14-202B25C0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FC3C0-7413-4994-9492-B387659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692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τ = (s₀,a₀,r₁,s₁,a₁,r₂,…,s_T)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B5FDC-83EB-431C-9992-FAAC89EE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траектория взаимодействия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DC39D-C4D6-41E0-9A40-6759535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6B109-0A2F-4CE3-8FF7-4EB30194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Gₜ = rₜ₊₁ + γrₜ₊₂ + γ²rₜ₊₃ + 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E3EFB-0814-4225-94DF-26E28190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дисконтированный возврат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88E7A-642F-4C9F-8A66-20596B66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D4551-F21D-4FF8-9235-64D7EADE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70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γ =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08B8A-3FAE-448C-B2DE-01C6213C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Близорукость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80A1C-0DC7-45AF-8926-D2FF345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Учитывается только ближайшая награда.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D095F-8E59-4537-8483-1BAD4EF7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81469-4946-4495-8468-2688FE5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270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 &lt; γ &lt;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86F5E-4346-4E91-8598-D7BF9CDC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625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Баланс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82CEF-2CDB-4642-B177-4A82FA7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007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1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Будущее важно, но вклад постепенно уменьшается.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67466-7D73-4466-8A73-8BCA707E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98368-EF9D-4D44-891E-682C5FA4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270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γ ≈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9E912-DBDC-4972-9C41-9037F9C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Длинный горизонт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F2008-EF44-46BF-A6AA-259C1B0E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2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Выше дисперсия и сложнее credit assignment.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D47E3-3377-4E8F-88C5-298E4F3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d91d4d46bfc4a9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910643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85e6f2b9943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58885-4F5B-46CA-9EFE-5EFED9CB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DB6E9-79A7-476B-B49D-E1ECCB3C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C5E5A-4D02-4D42-B1B8-E1F240FA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3858D-2056-4A7E-9E1E-C0865C71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Политика и две функции ценности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54D73-17FD-42A5-B8F7-91E1E466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Политика отвечает «что делать», ценность — «насколько перспективно».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89829-4891-4DF3-A459-677CE9EF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25314-73C2-46CF-8D27-4F19E054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ПОЛИТИКА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B8EF9-6702-432E-A601-4700C9CB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π(a|s)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EC582-A507-4001-8895-B7875A1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86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Распределение вероятностей действий в состоянии. Детерминированная политика возвращает одно действие; стохастическая — вероятности.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D0FFA-3321-4569-B3F6-F0960B8A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2F461-8394-4D4B-B5E0-52C80245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54CDE-DA94-409D-9C87-12C5FCC8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Vπ(s)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5FFEA-2603-4D9D-8F3A-7692DD0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861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Ожидаемый возврат из состояния s при дальнейшем следовании политике π.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B650D-2A92-4A33-A35E-DDB3D111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24536-1300-4FB9-B69E-4F00396F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ACTION-VALUE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14656-80F4-479C-8C77-E5091D9A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Qπ(s,a)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CA306-F349-4932-BA7D-E2A5E9EA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67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Ожидаемый возврат после действия a в состоянии s и дальнейшего следования π.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F7D80-D903-43C2-9F0A-1CD13520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DB759-B055-44F0-98ED-309E741E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017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π*(s) = argmaxₐ Q*(s,a)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00CCA-4CA7-43CD-A8C8-CDF572CE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жадная политика по оптимальной Q-функции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A8FCD-0EC7-4A45-9EB1-C8607C65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c3925941b9f444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167089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dbe43936446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36FC0-3467-40AE-BBF9-230EF63D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621F3-4955-45E1-A9E9-09368972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E86B-DB94-44C8-AC30-66096535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E34A4-C1B3-48F9-8BCD-4FAAAC82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Уравнение Беллмана: рекурсия будущего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C1E5C-78D1-4E7C-8F53-E491C99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Ценность текущего решения = немедленная награда + дисконтированная ценность продолжения.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1AD5-55E6-4A37-8223-10AB53E1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AEF30-BBDE-4B28-A032-33391745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Q*(s,a) = 𝔼[r + γ maxₐ′ Q*(s′,a′) | s,a]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C30A4-F491-4810-8C91-512E0DCF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оптимальное уравнение Беллмана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37B77-27DD-4567-AC38-F9C3F14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243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ACE85-578D-4593-8334-14C7C35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Разбивает длинный горизонт на локальные обновления.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4F5FD-88CC-4930-B6A7-A64D661E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23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BDC39-BCB1-4D46-820C-2FF19892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3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Связывает обучение по отдельным переходам с глобальной целью.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DF74B-D7C9-45B9-BC6C-7A76698E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403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450B7-942C-40F5-A234-1AB663C4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1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Ошибка TD показывает, насколько текущая оценка противоречит новому опыту.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B1503-CB08-4302-B7D5-2CB5B6A9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819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3C034-E35C-4605-AFB3-18D18CA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δₜ = rₜ₊₁ + γ maxₐ′Q(sₜ₊₁,a′) − Q(sₜ,aₜ)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B7E93-AFBF-44A8-B5B8-C924250B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00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temporal-difference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0B462-4E58-483E-ABAA-FC064AC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b5ea67accff4b7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04841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5644479944d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E8A0C-50A9-4FDD-838D-E7187C40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753B7-F43F-4C2C-BF98-45A5C681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0C749-3765-4348-B9CB-12EC0A7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75D2F-665A-4B9D-8791-7DCCC94D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Исследовать или использовать?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220BB-67EF-415F-B043-069B58F8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Без исследования агент может навсегда принять случайно удачное действие за лучшее.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AD608-762F-4581-820E-976647E4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5D977-17EB-4A1F-A8A0-92A0C19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EXPLORE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AD465-D9DD-4A40-85F1-2CDD2BC7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Исследование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D8DDF-52F8-49B3-BF9E-2FF12CBE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86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Собирать информацию о неизвестных действиях. Больше разброс результата сейчас, меньше неопределённость позже.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B6A07-83AD-4BE0-A6EE-182FA4BF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FF26C-FF1C-43B8-BC78-992A7522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81225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EXPLOIT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C4ECF-7EC2-45D2-AB3B-522A3901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Использование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94D65-8B91-43A9-B21A-D8E6749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86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Выбирать действие с максимальной текущей оценкой. Хорошо краткосрочно, но может закрепить ошибку.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2FF5A-A5D8-4E64-B569-9514896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34099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43037-B57E-444B-8925-9F5E70FB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SCHEDULE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0515B-EE73-4583-A0A1-78A12ADE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479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Компромисс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3364B-071B-41D3-80DF-C5052927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30670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ε-decay, UCB, Thompson sampling, entropy bonus или intrinsic motivation.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424E2-E600-4ADF-A99E-F805F423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Главная диагностическая метрика: доля оптимальных действий и cumulative regret, а не только reward.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0C7D7-1D6A-4D27-9781-B407E0B5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0aafa15a4a3488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26303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0979c79e94d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8F57D-1426-47D9-B50C-E0EECD6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B4B8D-0EAF-49F0-B7CB-A1EF04D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 · ОСНОВЫ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8F1B7-85E2-445C-8AE9-A53909D5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E7C1F-E0B5-4C1C-A87A-E2BC34F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Контракт среды: reset →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3D6F3-442D-431F-A792-F0A0976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Gymnasium отделяет динамику задачи от алгоритма обучения.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3110F-06B8-44F6-BC2A-C6399561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B92FC-2781-4893-BCCA-CE13810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obs, info = env.reset(seed=42)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for t in range(horizon):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action = agent.act(obs)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next_obs, reward, terminated, truncated, info = env.step(action)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agent.observe(obs, action, reward, next_obs, terminated)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obs = next_obs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if terminated or truncated: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break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0DD94-987F-418B-BCD2-F72DBF9F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32EC4-BC27-4DE0-9160-4E88CD7F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36C6E-66F2-4181-B36E-3128A449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D9489-A84A-4B5F-A1AB-DB35780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terminated означает естественный конец задачи; truncated — внешний лимит времени. Для bootstrap это разные случаи.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7C41B-030C-40C6-A21C-0408698F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042C3-8B74-45BB-9139-2580444C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9E77F-8159-4F74-8C74-359298BF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95A88-53AC-4D4A-959F-339E063C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action. Выход: observation, reward, terminated, truncated, info.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6E145-68C7-4F83-B654-715C51A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134ac83dea144a0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982870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ecdcba1b142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B27DA-6C91-4549-979D-F4F60ECC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01865-6444-4BA1-998E-ED1B26E9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 · БАНДИТ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5523E-6BDA-4C57-9C69-5FB76537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07708-98EC-4175-8E31-A72F14C5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Многорукий бандит: RL без состояния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DB5D4-DACE-4D4C-BA2E-B173A5AF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Каждый автомат имеет неизвестное распределение награды; переходов между состояниями нет.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8C9CD-261A-458B-A973-09A46A5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549E2-751C-429F-91A4-354D4B8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ARM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24A96-34ED-4086-9FFA-BEA3CF03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 = 0.18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85088-19F1-4F78-9029-B18D6009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38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7AA6C-200F-4390-AF93-B6657174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F2787-912A-4CF2-8412-1664AEAC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ARM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29866-E1DA-45A3-8B98-169D5572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90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 = 0.37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BA32E-9F0A-4E3A-B3C1-0F4A2DBB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2038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A9650-75AE-441C-BFDF-BCB3D030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736CD-E8AD-480F-996F-F3511A54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ARM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83524-E6F4-4073-8341-D395284C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 = 0.62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251AE-5763-4D59-9188-E18935B3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38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EC8E0-FCBB-458E-AD65-6F7EA385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A9682-D6E2-4FCC-8A6B-70F2C15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ARM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121AA-6594-4627-82B7-24A396C9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 = 0.44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8EFBC7-E0BC-463A-BFE0-E78CF6FD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2038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AEEA6-B714-40C8-A114-36832122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260D0-0113-4368-853E-EF744073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Regret(T) = T·μ* − Σₜ μ(aₜ)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572F6-CEA7-44B3-92B2-E651A9A5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плата за выбор неоптимальных действий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D733D-BC06-40FB-B504-A1341AFD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14044643dac454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244064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eb870b02243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9BBC-F74A-4B10-8736-2C7F66E6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2BD90-A105-4E7E-999C-4B280DF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 · БАНДИТ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7C552-0A9F-491A-BF9C-DAA013C3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021A7-2F07-4B94-A920-ED55A8E9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Три стратегии — три представления неопределённости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FF620-319F-4F4B-AE90-30050ECA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Нет универсально лучшей стратегии: сравнивайте при одинаковом seed-наборе и горизонте.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5A223-3709-4D92-A9CE-835090E7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9D21D-4BA7-4EF6-BB19-A993A9FB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ε-GREEDY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4D0D1-F58D-4F1E-AF63-E3424085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Простой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83C03-8D47-4C14-A012-250F2497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86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 вероятностью ε — случайное действие; иначе argmax 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Плюс: прозрачно.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Минус: исследует явно плохие руки одинаково часто.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6A0D4-907F-4CBC-B5F3-41383447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BC0EA-7C2B-4499-929C-93ABB6A7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UCB1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73EA1-0564-47A3-A8DB-7B03A4E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Оптимизм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D94A7-FC99-49D5-952A-7397AFEE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86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Q(a) + c√(ln t / N(a)).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Плюс: исследование направлено на редкие действия.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Минус: требует предположений о стационарности.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8C7AB-E4D9-4A8A-841C-AB9E8C7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9AFD5-6B18-45FC-B0DD-F7F88B8D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THOMPSON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98E49-8F41-4975-8B26-146959DF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Байесовский выбор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0663B-2FFA-4805-BADA-73DEEDC4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Сэмплирует вероятность успеха из Beta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Плюс: естественно учитывает неопределённость.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Минус: нужен подходящий prior/likelihood.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F661F-731B-4FE1-B4B8-61C4F89F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74ce026d933466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7989173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f91b8835042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B35A6-8588-4F78-B3D3-9F40904E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8DF75-BE72-47FA-B85C-2DB33515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 · БАНДИТ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20947-0CE4-4704-ABE8-E6102E6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A9BEA-13CA-4FA0-8BD2-9A004A80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ε-greedy: два метода, которые нужно понимать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25AB4-394B-47BD-808E-40613D3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Оценка Q(a) — онлайн-среднее наблюдаемых наград.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13646-6DD9-492E-A7BE-A1985B1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38963-FE68-46B8-885B-3C10C573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def select_action(self):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if self.rng.random() &lt; self.epsilon: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return self.rng.integers(self.n_arms)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return int(np.argmax(self.q))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def update(self, action, reward):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self.n[action] +=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self.q[action] += (reward - self.q[action]) / self.n[action]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3FEA2-AF4F-4D34-9E67-1041324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7737C-5290-4029-A8B5-74AD3A5D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A98E8-883F-444D-996E-CFB9B829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A774D-656C-4E82-A36A-4E9BD09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Первое ветвление реализует исследование; второе — использование. Обновление не хранит всю историю: достаточно счётчика N(a) и оценки Q(a).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E1F1B-92C3-429E-A127-7405B53B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23CBB-3D25-4BF4-821C-7CFAA65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AF0A5-9457-400D-A0AC-96BEB6D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D2617-1EAC-4567-9657-219EC397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индекс действия и reward. Выход: обновлённая оценка Q(a). Файл python/bandit/agents.py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40D97-A151-4463-93C4-BF2AE5EC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45717a8580449c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9510621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fafbb3a5247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AB343-0AA1-43B9-BAFD-DAF7B2B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4D026-1FCB-43C6-80E4-C521C6A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 · БАНДИТ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69FF7-9721-43C9-9383-4AA1F71E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284CF-E76B-4182-BA67-5913B16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Живая демонстрация: накопление знания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3D903-69DA-4888-8823-C39563E2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Меняйте вероятности, стратегию и ε. Наблюдайте, когда оценка лучшего автомата стабилизируется.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71a64a5444c4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D0324-AF78-4E74-9EFF-08284356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11A3B-EE45-41D6-A754-11EE536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66B9C-D1E4-403F-9A4A-852084B5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3360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26BC8-EBBF-479A-92EB-1D54FE47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71750"/>
            <a:ext cx="25050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+200 шагов при ε=0.10.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Снизить ε до 0.01.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Переставить лучшую вероятность.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Сравнить скорость адаптации и regret.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10548-1141-4DF7-89DE-F8036751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07E46-3026-4CB1-97CC-991E52E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F2876-353D-4B68-8C4C-4AFAD7AC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7675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стенд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2BDF2-18AE-4596-B84F-F337233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14900"/>
            <a:ext cx="2505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 и параметры работают прямо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3627F-E34B-4B8E-9A5F-7F5F398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a01efa96272493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777903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49e5b45fb4a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557AA-1783-4F5C-887E-B754FB3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963CB-CA08-49FE-AE94-D6E9E87C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 · БАНДИТ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7C696-7A0B-453F-946D-404AFCCC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C6E6D-B27A-44D8-BF21-6593C001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Эксперимент бандита: минимальный честный протокол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9BAFD-3A34-422F-B284-0CB19DB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красивый запуск ничего не доказывает.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8A4F5-4BB9-4E3B-A875-96516339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C9717-8DC4-4D0C-9881-B2B22B39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Фиксировать набор истинных вероятностей и горизонт 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06046-6970-47E9-B4D1-B949B49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8401D-8289-4F7B-94A5-7EFAE13F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74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Запустить каждую стратегию на 30–100 одинаковых seed.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B89A2-B950-49B0-9D72-7DF0B644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3A5B3-2C9C-40ED-A5F3-FB01D08B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Считать mean reward, cumulative regret и долю оптимальных действий.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7AB91-6607-4B2C-BEF2-4ED0937F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19D9C-04C6-4F68-9C78-99D682A1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Показать среднюю кривую и 95% доверительный интервал.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597BF-3F47-4A8E-8CEA-9AFE9CB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0E4DA-2628-4D66-8575-B4CA08B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Проверить нестационарный сценарий: лучшая рука меняется в середине.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8096250" y="2000250"/>
          <a:ext xmlns:a="http://schemas.openxmlformats.org/drawingml/2006/main" cx="352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afdbf9e567413a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EFA2F-0477-40FE-81EA-07D6131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Иллюстративные данные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F40CE-0CBA-43CE-BFBF-8177925C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df7dfa2558c4ef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161258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27c9f14a6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5E66C-E5FC-4BB5-876F-7DD6A58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B0E68-6238-49EE-9192-D4C95806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EA398-D1B1-4E57-83E2-860C02C6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5E4E5-5BB4-4EBB-9954-719EF92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Cross-Entropy Method: учимся на лучших траекториях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5A14A-CC01-4288-9336-5EAE63AE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CEM превращает задачу RL в повторяющееся обучение с учителем на элитной выборке.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552D4-76B5-4663-A97E-DCCA91D7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BC0B5-CA58-4F9A-9B03-E3AE5DE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θₖ₊₁ = argmaxθ  Σ_{τ ∈ elite} Σₜ log πθ(aₜ|sₜ)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A4C3-278C-478F-9B4A-90BDBCD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максимизация правдоподобия действий элитных эпизодов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1B93C-711B-452D-81DF-8B01FB3F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EB173-CC81-4ED4-9651-1CF2461F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СЭМПЛИРОВАТЬ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AFA2D-1F0F-4EF9-91D7-25BF4FCC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00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 эпизодов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CAE6C-1A10-460C-8E82-805D3A2F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Собрать траектории текущей политикой.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31AF3-148E-42F9-BF79-75B0D6CF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30941-9F6B-4C1F-A422-D5B585B5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433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ОТОБРАТЬ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003B-DA4E-4F8D-80FB-53E27CB4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100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верхний q%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42D861-D9B9-4CD3-A354-E045FA4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482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Порог — квантиль суммарной награды.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41F72-38B3-447E-902A-BC4F198F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5DDA2-66B8-4BD7-A7C0-728C923E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609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ПЕРЕОБУЧИТЬ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8FD75-4D74-462F-B856-8D7A9832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πθ на элите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37550-EBB3-44DF-8DAA-975F0E5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4820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Состояния — X, действия — 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293EC-2233-49BA-AC67-00259D1C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7977d45b9514d9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642650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77494413645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84F3-204D-4DF5-84A3-03284AD9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FCC5E-6577-48DC-8BF7-59D845C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5B5D8-7530-4654-9267-34C785D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5237A-8C2A-4EBE-B226-9DAE151F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Алгоритм CEM: одна итерация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24E5E-C397-4C0A-BF88-00EC30A0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Порог должен быть строгим, но не настолько, чтобы элита оказалась пустой.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72F19-C23C-4B34-A68A-4722321E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D29D7-8BA9-49DB-B66E-C4306BC7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E73A4-897A-4757-9029-08828E36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1. Сгенерировать batch эпизодов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D29AC-6AB2-427D-A29C-35F7BFCF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Начинаем со стохастической политики.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34377-317B-4F1D-94B0-271DF5A7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AAF3E-0B93-4AC6-A128-A698F230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85975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15CF6-DCD6-4F4D-BD9E-1F2BE82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5267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7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2. Посчитать return каждого эпизода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E6F29-FBBE-49B9-AD66-21CE8CA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9082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Результат шага становится входом следующего.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6535E-4261-44B4-B696-1E13865C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2CE16-3A0D-4D79-977B-89BFC25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DAF79-DF5B-45F3-8E87-6EAC31E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5267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2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3. Найти γq = percentile(returns, q)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9619A-88DD-4D7D-8331-62A875C3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Результат шага становится входом следующего.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53CA4-2C08-49CB-B83E-9959C4E2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7D70D-FFE5-428E-A7D4-FC505F5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5D6E8-1436-4534-8AF9-1905815B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4. Отобрать return ≥ γq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5C30E-6167-499A-A776-4A63C99F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Результат шага становится входом следующего.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8BE8D-D193-4E86-9F3A-763A29E1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DF5C9-4443-4FC7-B8EF-E58F22C0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95725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E6141-CCDF-464B-922E-A8AC345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6242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1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5. Обучить политику на (state, action)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77958-1B13-4C1F-A0E6-B3A3C3F7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005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Результат шага становится входом следующего.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A45E4-CEBE-4326-9BE3-A539950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F1E70-A710-4E2E-9E93-B2E0240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5725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9B27F-423E-4D90-BA54-695AF93A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6242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6. Повторить до стабилизации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962985-441D-48D6-9A60-466256D0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005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Следим за успехом и длиной маршрута.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92982B-2EE0-44B8-A561-C201858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3ed96fde7b947a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102739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e46c9924b4e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03CDB-E6E1-46FE-B3AA-D1F5265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7A1C-AB02-47AC-855B-0FD00B49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C4ACA-D0EC-4290-9826-B2FCD47B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7B06-A662-4447-A64C-5DBBAF4C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Среда «собака–кость»: формализация лабораторной №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833F6-0397-4562-9835-BC74E0CF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Цель — дойти до кости; качество решения зависит от того, что именно названо состоянием и наградой.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888D6-AA93-4CA0-8997-719B029A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7E247-6912-4D84-824E-2888B47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A33B4-05FE-4B83-8917-E893FC5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D4227-5D67-404C-BC5C-501DBFD5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1A988-7473-48F0-82D4-7218D1A9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F93A5-1E6F-4B36-82AE-CFEFFBC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0CCC7-F103-4CBE-9C77-5778D59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EB515-1437-4D9B-8F03-0DD568B6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52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61005-3CB7-47AC-9D1A-6CC3F11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5E124-A52E-4061-8C87-4578549E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11639-E082-4404-93F8-E5E6675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2C7FC-17DE-41E9-8921-5F4EFEA1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B7303-79C8-4B2C-BB00-F90A5FCE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341C7-3AB1-467C-836C-1DFB313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17C96-2C99-4887-AF67-66929F5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289C7F-2853-4682-9008-A5797F7D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9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73486-7E7B-4290-B67E-EEEA096B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390C2-3C7B-478C-9966-26F94CE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89243-390E-43D1-89FD-875D7F7A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E2475-BEC0-4BC9-B5DF-D20126E0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403DE-E0C1-41C3-BD1D-EEA8475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CBEF8-814E-457B-83AB-084AD51F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5F2561-0297-4ADB-A32A-BA7971D5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567BD-D505-4B7A-8758-372B3D05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4A0FD-FE18-44E2-8A64-75BC3B46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E874C-EDFD-46DC-A18C-EBC4D48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581A07-60B3-4D7C-A26C-6E9F10AA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DD200-515E-48D7-9116-CC1C3FF0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1DDF51-C4B9-4488-8A76-C7ACFDE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519813-9C78-481A-90A5-1924DC19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AC0A35-12B8-4B76-9C72-C949849C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EF5A24-C40C-491E-8F0D-6A25419C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242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8FADC5-D61A-4281-B8B0-E8F8DA0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8D90C6-0235-42E7-B68D-AEA8AF51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3CA7C3-4948-4F69-8C97-AA2904E2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C54E6B-473C-4069-A33E-AF0743E9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82A913-78C5-441C-A3B4-42D539EA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73A2C7-02D9-4886-89CD-7D6AA15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A3F496-1C0B-44F6-B55E-80326722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D1CFD5-50D8-4DB0-8F42-F4FF3A07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814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81AFE9-9F45-4AAB-A353-73CE6440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1795F8-E897-4577-AF93-5BC837F2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1A1BFE-EB91-469C-A925-2684A0B8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79D077-0C5B-426A-BA71-2453FD40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4FB869-DC47-4796-9F58-FB99EBC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E90FA5-AF7E-4836-8FAA-F8C9C6DE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353BA2-46B3-43BC-AF54-89181D3A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CDDEE2-4C15-4FAE-A2B4-C3FF812B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386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4CE702-3BE9-4821-8B49-D415A9B8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8012628-253B-4DAD-A4D9-1F263218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BA6AA1-D58C-415F-A8E3-55C5A55E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D9665D-021E-4B37-B5B7-1F54AB62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E455EF-9E34-4CB6-A5DE-545A3B5D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58049B-9822-4AD4-9565-59263CF5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AA4723-E64A-40D6-AACC-D0CF8F68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10955C-685C-477D-96AC-7F63768F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958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B7AAAB-29FB-428A-839E-557206E2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2AF237-491E-4600-9154-9261E9BF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5D2A15-B96F-4803-BC62-ECF04D3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0F2254-97B0-4B6E-8A0E-31B640F7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DE89CC-6B11-4393-8292-BF01AFC4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1E6E0D-3040-4902-9D42-6D15F31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BAC4E2-1BA0-41E6-B52C-C83C5236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0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13C10FF-0AA7-4866-B1D0-345174F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53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A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86BE11-FCE0-4E97-B5EA-38CBED91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7A6487-5437-4FB1-8CF5-1EF1F4F8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81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🦴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97E54C-BD93-487E-A769-B7962C3A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176BC80-3C00-4AE8-B6FE-E0F3B4B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85975"/>
            <a:ext cx="2800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STATE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68A31A-6CD8-4E74-AD92-CE57858C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526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Δx, Δy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D89A80-24F6-459C-852C-B224F5E4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90825"/>
            <a:ext cx="2800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1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Относительное смещение до цели лучше абсолютных координат переносится на другой размер поля.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A9A773-1D38-482D-A05B-ADF8C0E8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C18B64C-7450-41D5-BA00-0B838912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85975"/>
            <a:ext cx="2800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B1B7E4-5EC4-49D5-9A5E-8B1F02E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526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↑ ↓ ← →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E3BA3D-5880-49DC-90D9-D82CC6B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90825"/>
            <a:ext cx="2800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Дискретное пространство действий. Границы обрабатываются средой.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C22DA5-F303-4E37-AFE4-8A0F51F9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FAB8CC-7E20-46E1-BF64-49FA3D47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800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REWARD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803AEB3-74F2-44D9-A92B-AD747ED4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+1 и −0.02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63ED9E2-64AC-42C9-A4DE-F44DB420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43450"/>
            <a:ext cx="2800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Награда за цель и небольшой штраф за каждый шаг.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671688-F28C-45E8-8DC7-D1163FA3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D32C31C-3E0F-4B11-9663-4806D8B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800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END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042783-60D0-47E0-85CB-DB6AD46E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053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goal / timeout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910681-451F-4181-95D3-440FFABE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43450"/>
            <a:ext cx="2800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terminated при кости; truncated при лимите шагов.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CE87030-A5BA-476F-85F5-B1EED364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436918f05b14de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633606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665f77a4c4a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FFBE9-BC07-4F07-ADE6-7E36F47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0E14C-80CB-4DC8-9B0F-F2B7E369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D6D7C-E895-4E6B-AAE1-7590A981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79A48-086E-4ADE-A23E-DC43A0C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Reward shaping: как агент «ломает» замысел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8884F-4D92-46EF-8103-2FF42065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Поведение оптимизирует формальную награду, а не смысл, который преподаватель держит в голове.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85C69-45B4-495B-A40A-30549438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A3AD-E930-4427-B1C7-C6E5A6B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ОШИБКА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7EBC8-54D9-44D8-9163-0C6F3BAE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Награда только за цель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51193-A5F7-4A94-BBC7-AD41D5E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086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Слишком редкий сигнал: успешные эпизоды почти не встречаются, CEM нечему обучаться.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98631-3129-4C22-9D6A-A14079E8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6D599-F6D6-46EC-8E03-4973C31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ОШИБКА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D8DFF-5423-43C6-A91D-4CC6179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Бонус за приближение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E21E0-3942-4634-8CC7-D4C2448B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3086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Агент может колебаться рядом с целью или эксплуатировать неучтённый переход.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1B2A3-46BC-4060-A43C-3502E93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099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7ACD3-B43B-4CBA-B3B5-17FC9E2C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РАБОЧИЙ ВАРИАНТ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B2173-4F1F-4C72-972D-AF7EA582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Цель + цена времени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DB197-1417-4C23-A981-B454317E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30670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+1 за достижение, небольшой штраф за шаг, лимит горизонта, тесты на границы.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70401-254A-4E04-9CAD-C8FEB95C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После изменения reward повторно проверьте: оптимальная политика действительно совпадает с желаемым поведением?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0E3DA-8549-43D6-8849-51F828EF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9c2f9f36bd24a0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0320553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1f2bbb8aa4f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6C984-38CC-4A0D-AB10-ECFA05C7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6C602-ACCA-4F1E-A437-EC130F1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C3799-6757-4504-8451-CE3C973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2D064-491A-4645-8D5F-7855C23A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Среда как отдельный модуль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7372F-6FF3-463C-8A8E-D7CF5B50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Вся постановка задачи сосредоточена в env.py — алгоритм не знает правил сетки.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37BE8-9C46-472E-A45E-05485935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B5D74-E239-489F-BEC3-9D2ECF61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def step(self, action):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self.dog = np.clip(self.dog + self.moves[action], 0, self.size - 1)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self.steps +=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terminated = np.array_equal(self.dog, self.bone)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truncated = self.steps &gt;= self.max_steps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reward = 1.0 if terminated else self.step_penalty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return self._obs(), reward, terminated, truncated, info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78880-3C36-4AF4-82AC-F0800F51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0D30F-00BB-46D9-9D97-A0A4EE29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4ECA6-1DC7-4BA9-8DAD-E8918D5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ED32E-F24A-4039-8485-1B98B78C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np.clip реализует границы. terminated и truncated разделены. Наблюдение возвращает относительный вектор до цели.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CA450-41B8-424D-A757-65368056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592CB-E70B-4EA0-9DEE-4B7CF583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50D47-C039-4D6B-A704-56E1B998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8AF12-3C0A-450D-824E-1E49728D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action ∈ {0,1,2,3}. Выход: новое наблюдение и сигнал завершения. Файл python/cem_dog_bone/env.py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FCAD2-0412-4565-8649-56488095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c5d518fee03477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152599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a85f93fd241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54C93-99EB-4D28-879A-DFBB799E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4E216-F25F-46EF-841F-93EF309F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6A185-8315-4C1F-BA85-FFDE409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36AB4-B740-4C0C-AB53-98413A88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Обучение на элитных эпизодах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2CB9F-FA78-4B52-9F28-F8C519F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Ключевой переход: траектории превращаются в размеченную выборку.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3B3D6-327D-4DC3-B8FA-3561104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E3FEA-392D-455F-82CF-5A194313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sessions = [generate_session(env, policy)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  for _ in range(batch_size)]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threshold = np.percentile(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[s.reward for s in sessions], percentile)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elite = [s for s in sessions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if s.reward &gt;= threshold]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X = np.concatenate([s.states for s in elite])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y = np.concatenate([s.actions for s in elite])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policy.fit(X, 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4C4AA-F797-4038-8120-6F308042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D91B0-0565-4FB3-BEDF-262DCA42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78B3B-C9F5-43B9-A340-9FCE9958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0E94D-3AC0-4749-AB38-22FA11ED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X содержит состояния, y — действия, которые привели к высоким return. Если элита пуста или однообразна, обновление политики нестабильно.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1AB33-8E5D-4FE2-A749-30DDBC89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C21C0-1793-49C9-9FD3-58D4DC56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00014-AA9D-4E3B-AD83-5A53551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133A7-C68C-4BC6-8647-BF0D4B80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batch sessions. Выход: новая политика и статистики threshold / mean reward / elite count.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D369E-00E6-4A81-A8DC-5C5ED78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681f7ff9bc149b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7233110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a2ee428894d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92D6-1EDE-43AC-9A24-AA5B349B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3243D-225C-452A-A638-A9C093C4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CCB50-09FD-4E19-BA55-9C959B31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9954B-0670-4360-B1D9-C51F8F59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Живая демонстрация: обучение собаки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EEF78-50B9-4F44-9F44-33F636A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Запустите 10 итераций, затем покажите жадную траекторию обученной политики.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bbbb955e0495f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7F4CA-9298-4BDC-B6A8-8F16A8B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DB9F2-71C6-46DF-88FC-1141362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FABB6-95C1-4FB4-A2DC-935918BC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3360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92F5E-E282-4194-8DEF-4D015F3C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71750"/>
            <a:ext cx="25050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3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Поле 9×9, q=75%.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Обучить ×10.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Сравнить success rate и длину.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Убрать штраф за шаг.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5) Объяснить, почему путь становится длиннее.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5BACE-C7A7-44D7-A201-D7B20F6A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558A6-CF30-468B-BA30-50E7BC62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4FF14-CC22-45ED-AEE3-8CAA6237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7675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стенд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BFA4B-65F8-45E5-A439-AED3737B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14900"/>
            <a:ext cx="2505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 и параметры работают прямо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BE1CC-2745-45D5-8D0B-E5B3E829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d661d85f3994df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782902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17a4760434c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9C99E-280E-4A2F-9424-4A5CD770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A41D1-70D5-4F9E-947D-0477E725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 · CEM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04925-92D1-4BF4-81F0-14C328D6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6C02B-7F10-46DF-AABB-50B1B37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Что сдаётся по лабораторной №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E155E-C76F-4D6D-8076-62670CD4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Защита — это проверка исследовательского рассуждения, а не демонстрация единственного удачного запуска.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6BDF8-374D-48B4-A1E6-EDBEBBE0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D8E75-A80C-475E-8672-41F98DFE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Формализация MDP и аргументация признаков состояния.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AB33C-BA80-4555-B92B-32682CE3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95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61093-5135-49A6-B0B7-B0BE7D15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Схема модулей: env.py, policy.py, train.py, evaluate.py, demo.py.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F2014-91CE-4745-BECC-2B6DA215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623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56267-169F-4C7A-9923-B570C9B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Кривые mean return, success rate, elite threshold, episode length.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0861D-22B9-4EFA-A298-871887C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290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2324B-84C0-4C4B-AB66-A4B60298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Абляция: percentile, batch size, step penalty, представление состояния.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EE788-C180-43DF-AF3E-22220B74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994F2-EB60-415B-9E5E-6AE8BC6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 менее 10 random seed и доверительный интервал.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E7D19-999C-403A-A446-D72D8F1A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62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01F82-A51F-40CE-A005-B6C88369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Разбор хотя бы одного неудачного поведения и его причины.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3BFE6-EA33-4858-A632-BD3B3034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94C504-E058-4B47-A756-5BC74999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85975"/>
            <a:ext cx="270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MINIMUM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AEC60-9EA7-4F2D-9D35-5E1F48F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526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Воспроизводимость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EE31E-5C3A-45F7-9C06-5A109BE7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requirements.txt, seed, команда запуска, сохранённые параметры.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6D335-6BBE-4EEC-B475-565253AC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FC0EF-00F9-4098-BF08-4E222B0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90975"/>
            <a:ext cx="2705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BONUS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6D30C-9E7F-405A-B80E-DCCA29F5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Обобщение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C5198-1D98-4FE0-8859-EC3B41B1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 политику на большем поле или другой позиции цели без дообучения.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6AE09-82AD-483E-A6A1-159DAA5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d2ad1fdbf00476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448674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a5f62226e4c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9FAC8-53EC-417A-BF66-032089AB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B5FBC-B96E-4406-B40D-F17B48D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Q-LEARNING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882F0-1DD1-43A0-8E4A-EDBA7232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18244-B734-4AD0-9036-73E8C6D2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Q-learning: обновляем оценку одного перехода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2F8D0-606B-463E-9D83-707F1233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Алгоритм off-policy: цель использует жадное действие, даже если поведение было ε-greedy.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88FF0-9675-480A-8F84-C22B15C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C246E-E376-4E33-A7A6-9F3DC35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Q(s,a) ← Q(s,a) + α [ r + γ maxₐ′Q(s′,a′) − Q(s,a)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005DD-6C13-4056-8E39-6BCAE0C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табличное TD-обновление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5F07C-A9B5-45E8-97A1-AC202BB9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4C4D8-A911-4F41-8798-9BD2BC15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1943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A64B7-A676-4717-BB27-E829C56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learning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585DE-B8F2-45A2-A7CE-D9038A1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Скорость замены старой оценки новым опытом.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E55B5-FF32-486D-B273-E61BB9EB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A9281-F66A-405E-8F24-756FD63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1943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24053-C1D2-4C73-9E7F-4C73F54B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005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discount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8BBB2-62D7-4BE4-B513-544F4EB8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Вес будущей ценности.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9EA91-4088-4819-9B40-DA64E39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FB510-7F0B-461F-A6FC-E19589D9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1943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1E8D3-A23E-4C68-AB21-316E7FB9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exploration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6F8F8-6197-4CC4-A1BD-2D8A099F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387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Вероятность случайного действия.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BD6EC-79E1-4BA4-9FC0-BBFE43D7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B6BD1-4FD3-490D-89AA-0D55EE9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1943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624F7D-D7CE-4E55-8BA7-D0851298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TD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01960E-8853-4007-A1BA-36AE50EE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38700"/>
            <a:ext cx="194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Сигнал направления обновления.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88AB1-D93D-4852-A17A-E637BBDC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73c701ec02b40e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8343731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3b04c2dd54b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74260-7BAF-4DE4-9FC1-E7B6651E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CE444-6402-4DFE-87FA-355BAA1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Q-LEARNING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05E04-ABA4-4EA5-B788-5B6556DF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17C23-DDD7-4978-844D-B712BA87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Табличный шаг Q-learning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93A62-53E9-4A5C-B479-F8F509E7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Обратите внимание: timeout не всегда обнуляет bootstrap, а terminal — обнуляет.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32F35-9349-4191-BDD8-9CEDA0F1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31CAC-AA23-4868-BDED-5105CDAA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action = epsilon_greedy(Q[state], epsilon)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next_state, reward, terminated, truncated, _ = env.step(action)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best_next = np.max(Q[next_state])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target = reward + gamma * (1 - terminated) * best_next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Q[state, action] += alpha * (target - Q[state, action])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7020B-74CB-4CF7-9309-B523250A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212B-CFAB-427B-822C-809732B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990BE-7270-495B-91FD-BE5CD28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BAA5B-F239-48BB-A0BA-941A2DDB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Выбор поведения и TD-target разделены: это делает Q-learning off-policy. Таблица возможна только при небольшом дискретном пространстве состояний.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35CAE-BB03-4468-86EB-9A3986DC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902EA-4F54-42EC-A4A3-7E68F4E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76A14-7A9F-4022-A60E-8F6203A0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070C3-23B5-4C0A-8BC9-1E25C28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один transition. Выход: изменяется ровно одна ячейка Q[state, action].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96DE3-5CE0-4DD3-B6C1-034E9B4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4873e765f8f47de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885163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1e7f3503d4b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C5C41-500F-46BE-AE8B-2BF7B83A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CC326-3996-4721-AC0B-1C5AFD8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DEEP 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A1763-86E6-43FA-BAB6-BBD32A79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5E609-FE63-41A6-9077-A412970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Когда таблица Q перестаёт работать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3002D-066C-47E9-B2D5-5A527D2A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Изображения, временные ряды и портфельные признаки создают практически непрерывное пространство состояний.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72F40-1BBF-44A9-BACC-98670A1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2F85F-18B7-48C3-B91D-082B980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990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ТАБЛИЦА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CC1C6-6292-4CBA-9E8C-F08A60C0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Q[s,a]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3253E-4F6E-444B-93EB-181E9F8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990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Точное хранение. Интерпретируемо.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Но число строк растёт экспоненциально и нет обобщения на невиданные состояния.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0FAD2-B360-4C5F-A574-CF9E6A2D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E3E74-27F0-4CC9-9BCC-3DD613AA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79FB9-3B78-4D19-A96E-CA045E8F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81225"/>
            <a:ext cx="2990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НЕЙРОСЕТЬ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4FB77-ADEC-4526-B1A7-4138F57D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4792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Qθ(s,a)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05455-26BC-4E65-96D8-AAEC68FB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86075"/>
            <a:ext cx="2990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Аппроксимация общих закономерностей.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Нужны стабилизаторы: replay buffer, target network, нормализация, clipping.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58718-18CC-43AD-B914-87B73B86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F9AD0-D440-44D0-9512-3B0122D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47875"/>
            <a:ext cx="3028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56B4A-334B-490D-A379-998BE6F8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2686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ПОЛИТИКА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66170-FE15-4EF6-A40E-4075EFC2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47925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argmaxₐ Qθ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57E44-102B-4213-847F-EABE0869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86075"/>
            <a:ext cx="2686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Сеть выдаёт Q всех действий; агент выбирает жадно или ε-greedy.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5EAE3-74D3-4318-9CB6-5657B96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3ba4a990ff9408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486326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154c61ba14f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6BAE4-2983-4F5F-AE3D-E213875C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D9372-6550-48BB-BF85-4853D443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DEEP 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97220-7C9E-45B7-821D-9246B4B3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F16C-3A38-445A-A55E-3EE1252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DQN: четыре детали, без которых обучение нестабильно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C7F83-85C2-47A4-8A26-9C2E8218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DQN — не просто «заменили таблицу нейросетью».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2C9AC-5F5D-4AD7-9135-DF0BE87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F56DA-B592-42D4-87D2-A05B9AE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91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 · ONLINE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45A3F-47C7-4F4A-9ABD-5DCC8A80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Qθ(s,a)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EE172-51E2-4904-92C5-8511CC31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991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Обучаемая сеть оценивает действия для текущего состояния.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8BB63-B889-4F34-96A2-9210FD2E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3B7F1-3785-40C9-BE99-9F16BBD3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97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 · REPLAY BUFFER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BAD84-701C-4028-B819-B213A7B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(s,a,r,s′,done)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94E63-C41F-4BE9-9C66-7CD4E44A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4972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Случайные mini-batch разрушают временную корреляцию опыта.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052D2-6AFB-43FF-9997-BA76F69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79618-7C2A-45EE-9400-0357CC78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91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 · TARGET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6DDE6-3211-46F9-8053-F9AC59B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Qθ⁻(s′,a′)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F21A9-96CB-41D7-8288-13FEBD1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991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Замороженная копия формирует медленно меняющуюся цель.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19DE9-98B9-49BB-A21B-936AF997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41A8A-4BD0-4677-8FC7-63057CF8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97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04 · LOSS / CLIPPING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721E3-24AD-4D20-8DD6-3B78AFB8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Huber + grad clip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9F398-6575-44CF-8142-055ED25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38700"/>
            <a:ext cx="4972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Снижает влияние выбросов TD error и взрыв градиента.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54BC0-7F6D-419F-84C0-14EBCEBE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4a525d5b0a6495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374702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8cba675ea40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391E1-381B-4034-ABBF-033BBCA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8D3F8-4D5A-49E0-B1CE-7E145D6C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DEEP 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3D57F-83FE-4EC3-BD01-7DBFAC8D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F419E-2EA2-4030-B316-520839A1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DQN: из replay-buffer в gradient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77074-25A2-4EE4-A81B-63D413C1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Target-сеть участвует в вычислении цели, но не получает градиент.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00D15-C2FD-4513-888B-5A5FBF1D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C43D2-CAE3-4B57-952B-6E9434A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batch = replay.sample(batch_size)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q = online(batch.state).gather(1, batch.action)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with torch.no_grad():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next_q = target(batch.next_state).max(1, keepdim=True).values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td_target = batch.reward + gamma * (1 - batch.done) * next_q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loss = F.smooth_l1_loss(q, td_target)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optimizer.zero_grad()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loss.backward()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torch.nn.utils.clip_grad_norm_(online.parameters(), 10)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optimizer.step()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7E13D-AD29-47BC-BB5F-D2149288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27B1E-5EBF-4360-8E9A-6BF512B2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C530-B59E-45EF-BBCC-646FC4B2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23D9C-C439-43BA-93C6-E5FCED7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gather выбирает Q совершённого действия. no_grad фиксирует TD-target. Huber loss мягче MSE при больших ошибках.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7D4FE-23FB-47CA-AB77-34479AFF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8EC4E-206A-4AD2-A5BA-3F286D3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2BDF3-19A5-4628-A529-34B507B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19A06-3FF4-4DA1-8674-38D11AF1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mini-batch transitions. Выход: обновлённые веса online network.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AE7F0-CF47-40E1-95CD-B37A3D6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3e8ba332f2f455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599487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8a3af165446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B0967-27DB-4C67-A3C8-F30418F0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CC55B-A571-46B3-9D94-D17FDB33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DEEP 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977DD-B98D-4863-86FF-C398D52A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BD3A6-D2D2-4C69-A02C-6A3AC8C6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Double DQN: убрать систематическое завышение 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240EA-68C9-4921-BB12-B81A4240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и тот же шум не должен одновременно выбирать и оценивать действие.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849AD-D3A6-4A18-99F4-9926EC96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C1146-4CEF-4F9F-9AC5-DF7F25C4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9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a* = argmaxₐ Q_online(s′,a)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AE72D-2C75-4753-A516-F1120EA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online-сеть выбирает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8C56B-8F0F-4A7E-879A-9DD68E51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1BFA4-8C36-4B44-B96A-E25211F3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9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y = r + γ Q_target(s′,a*)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2A3F5-A7F4-4C1B-A5D9-455CD9A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target-сеть оценивает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54E55-6E1F-4895-A8D8-AAEA2805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4667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25E85-9F24-4632-9D60-78A4E4EF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48100"/>
            <a:ext cx="4324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DQN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36383-2D88-4F27-8D4D-F3D8FEDD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max у target-сети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37C95-3A2C-4519-9476-4D68346E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529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Выбор и оценка сцеплены; max предпочитает положительный шум и может завышать ценность.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F13E7-08F3-48E6-A356-B011965A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667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59586-E6C5-47B7-87B3-7570D3E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48100"/>
            <a:ext cx="4324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DOUBLE DQN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67B91-423D-4D81-9530-5F11650B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148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разделение ролей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71B0D-FBCA-4D3A-8E6F-0914D27C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529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Меньше overestimation bias; не гарантирует улучшение в каждой задаче.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34665-B138-4748-A7A1-85974F6F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da421ef0a174a1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922878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6d967d69540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446A8-BF04-4627-B7A1-8E5C96F2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1045A-61B5-475F-AD29-97D8FA26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DEEP 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611BE-25FD-404A-A5EF-8A05BF17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7F150-54F3-48C0-AA87-1CF34A9E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Dueling architecture: ценность отдельно от преимущества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E0FA2-05BD-41F0-A342-463ABAD7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Полезно, когда многие действия в состоянии близки по качеству.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8E363-2835-48BF-A722-B46051F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64866-A97C-462B-B6E9-0DCBB76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общий encoder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h(s)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407A2-2688-4B80-8483-3D9E2EB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6BCEF-79EF-480D-9D2F-D4B3ED27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F773D-21A2-44C1-9DB6-FFB54FFE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3CB84-9E8A-43D2-8F37-DE8222D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Value stream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V(s)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8D415-7C86-4F3A-8CCA-616C195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50958-4B8E-41E2-B418-5407DFA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Advantage stream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A(s,a)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839D0-2AE0-4DE8-92F2-D9AE0D04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8F7EA-AD5D-44EC-A55A-AF00F0F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3C621-032D-4DB1-BBC2-B8ACAF6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Q(s,a) = V(s) + A(s,a) 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meanₐ A(s,a)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7F9F3-9670-4ED8-A379-8059A59B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идентифицируемое объединение двух потоков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EF719-281E-4D1B-BA08-DDDD2394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DDDQN в этой лекции = Dueling Double DQN: Double-target + dueling-head.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7727C-8351-4A45-8624-811180C3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089c82cfcc146a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6589762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dea312f7040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3D6A6-E3C5-4204-979A-0F0F97C1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CAD2F-50AE-4837-94C4-89E8807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DEEP 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43621-0DC1-40CC-8E1F-A36AFBBA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0580B-59B6-4C4D-AB97-C78C77F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Dueling Double DQN: целевой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5697E-3C84-4944-9019-77D76C76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Double DQN — в target; dueling — внутри архитектуры online и target сетей.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117B5-6308-4EB0-A334-B16728B4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0F1D7-174D-4AAD-AD5B-9A2BE18A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with torch.no_grad():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next_action = online(next_state).argmax(1, keepdim=True)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next_q = target(next_state).gather(1, next_action)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td_target = reward + gamma * (1 - done) * next_q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q = online(state).gather(1, 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loss = F.smooth_l1_loss(q, td_target)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0ED9A-28E8-4D30-89AE-57763325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A9E27-24BA-4F52-9632-992FAC6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4FAD8-004D-4871-9BFA-E9841DB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59578-8AAE-4361-9152-998E7EEA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argmax берётся по online. gather берёт оценку выбранного действия из target. done маскирует bootstrap после terminal.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1705E-13A4-4C8E-BD09-86877F7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588FC-5DC9-49E3-9533-0DDCE295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9494A-33B3-4BBB-8490-0D1431B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69270-9C64-4858-9A42-26D5118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batch тензоров. Выход: scalar loss. Файл python/trading/agent.py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0424B-E853-4A8F-A7BC-D3E8FA0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43e268e1ef5495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6588186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ca22ec43e42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EBA79-68C8-4D1F-9ADF-398F4D1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F516B-B99F-4E73-847D-338C87FF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ФИНАНСЫ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2306B-C8A8-4C0E-BC08-C7DDA580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E0FEB-F215-4843-8E7B-A697309A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Торговая задача как MDP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8E913-A127-47C1-80FE-1AB3F3AD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Признаки рынка — наблюдение, а не истинное состояние: рынок частично наблюдаем и нестационарен.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ADA0E-806B-4F79-95B5-9C6316DE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A5016-D924-48E8-AB21-D939D4F1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ABB89-34C2-4256-8020-074CEB2C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окно признаков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70A6E-6C16-42FC-9817-36D98F46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228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Returns, volatility, объём, технические индикаторы, текущая позиция, cash, время.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D36F5-5B9A-44B4-B840-676DBAD7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6B139-751B-49AE-BAA0-8FF2399B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E1ED0-1529-40DB-8CD1-DD921018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позиция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2AFE2-03C7-48EB-AB2A-1FD3E1A4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2228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Sell / Hold / Buy либо целевая доля капитала в активе.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D37DF-E2FB-4149-AC6B-D8AE39C7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935D6-88FB-4018-9D1C-CCF35C20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REWARD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9BF16-C9E8-44C3-8E95-DF689D7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PnL − costs −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8BD4A-0630-4AA6-BC8D-3AF07A20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2228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Изменение equity минус комиссия, turnover и штраф за риск.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B1FB0-2A0F-49E7-8D97-7EF2821D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743200" cy="3048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F7C18-3F36-4E52-AB70-1182B7A1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400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TERMINATION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D6954-5753-4926-AF42-52E8620B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конец периода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04F1A-731C-45D2-B38D-D4F243ED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432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смешивать естественный конец данных, margin call и time-limit.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89195-C40C-442F-BCFD-AF55DB3A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3d0a9800350468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958437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7a4dfc46543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72FF6-B879-47CE-8FB1-D0A5AC0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2E139-865A-4144-9195-E3B0071C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ФИНАНСЫ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D0470-B9B8-44ED-80A2-B5A7D82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F29D9-D8AB-4D38-9A2D-BA14441E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Data leakage: главная угроза красивого backtest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0ED76-3C32-4402-AFA4-EDF8B178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Временной ряд нельзя перемешивать как обычную IID-выборку.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6DEC1-04D0-43A2-8DB5-837FADE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CE68-9BB2-46F5-A149-683ECAC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TRAIN · fit признаков и агента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9544B-73C7-4CC7-9264-E481098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AA946-A5EB-41DA-A6BD-BC52B565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FED4F-2288-40C6-BB3C-5FBE1D54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61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76079-5439-49FC-85AA-7D47D8A2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TEST · один раз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4A7A8-1B4A-493C-A296-95C1951A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766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3884B-9367-415A-A058-B6440786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Scaler, PCA и выбор признаков fit только на train.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66BDC-3D5B-4039-BC0A-B16BA33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9113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0F7A7-CD80-4B36-82A1-9EE33D8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0063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Решение в момент t использует данные, доступные не позже 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58738-C690-4513-B17E-3C5A273B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A1F8B-BF78-4AEE-A0BF-2928B38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Комиссии, проскальзывание, корпоративные действия и делистинг входят в симуляцию.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E5309-F7BA-40E8-AC65-7BDE5D5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3988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20549-BC12-46DB-9C95-3C17432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4938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Walk-forward evaluation лучше одного случайного периода.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394FF-184E-4391-8F0E-0DBFD63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0b09b87d029466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31701284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46df8cf514e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0AE29-713B-411A-9E8B-AE4F2FA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880AC-5359-44E5-8177-22B01FBF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ФИНАНСЫ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6A525-047A-42AB-B4EC-9D4F199E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D76C9-18BF-4E3E-8D78-13A885C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Оценка: доходность без риска ничего не значит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2D355-8B12-413F-AE2E-5F93082F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Отчёт должен сравнивать агент с Buy &amp; Hold и простой rule-based стратегией.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68FA3-33D0-4C8D-86CF-E24A4BA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2C9D7-075D-4A8E-8A10-B230094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Return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CBFD6-968B-4625-94CF-181462E7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рост капитала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F47F9-2A3A-4F73-8335-CD1B173F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показывает путь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CC8EE-1307-4753-949B-ACC6BE0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67176-3A0C-4FFC-AAC5-3B5F690D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Sharpe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115C1-1E9E-43B4-8D76-D16674CB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return / volatility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5CCB2-87A4-4627-AE56-0555D11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чувствителен к допущениям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5942E-E4A0-4226-847F-5B9F90E5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E6002-1275-4547-989F-023F8138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Sortino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A5ECC-61ED-4879-A89A-365AE542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downside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5DA75-EADF-42A6-B14A-C25F89FC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фокус на негативной волатильности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F66D6-35E2-4198-B91F-61121063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0A2D2-80E6-4A30-B237-A865DFE6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Max 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B8F6BE-6B69-4846-AA83-0C713E3F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падение от пика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F38DF-574D-43FE-81B8-9D15FED5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интуитивная мера риска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65DFC-5064-4025-A406-9CF1220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0F023-B590-4D83-8A3E-CFD8A5E9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Turnover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8CD51-9699-467D-B49F-9CEC56B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объём торговли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17E4C-E165-4298-8A6C-894D0CCF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434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связан с costs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5147D-D950-49E3-837C-FD4306E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FED6F-6779-42EF-B487-9A880E7C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162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Stability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A6F02-4F5E-4487-B53B-79E52DC5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разброс по seeds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5A24F-7484-4C64-9240-C3E3DAA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3162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проверяет воспроизводимость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C8ECA-4E8A-4BCC-836C-EF68BA5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851ac4967ff462b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8017185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9f6b68aec42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0DCDC-122C-4F07-961F-BA8312D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681DF-2B30-479B-8BFF-BC890E0C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ФИНАНСЫ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EC41D-BA7C-4EB5-8B39-7D2DBAA9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A2F3D-CF82-4C70-9A81-2FCE0EF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Живая демонстрация: алгоритм, комиссия, режим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9120D-931A-4A95-A076-194AE9D4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Синтетический стенд нужен для объяснения механики, а не для доказательства доходности.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3cbcc1ac94837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70ABD-466E-4503-AF8C-23F318A5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40062-4365-40AE-B9B1-278E4778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3EDFD-3C0F-4BDA-9470-2B666360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3360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A1E5D-D400-4C68-9568-6EA3EF17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71750"/>
            <a:ext cx="25050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DQN → DDQN → Dueling DDQN.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Комиссия 0 → 0.5%.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Тренд → высокая волатильность.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Сравнить return, Sharpe, max drawdown и число сделок.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9729B-02A9-4E19-95E6-6DF6B85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85B27-1C84-4CD1-8872-E9BAAB9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72DDC-56B5-4131-B149-04FC40A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7675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стенд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8BEB6-01FA-4676-B0C7-34357B4A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14900"/>
            <a:ext cx="2505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 и параметры работают прямо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3ED68-8004-4C2C-B1DA-80C4346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7bcd1ab0e50483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6868449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e4241c5d542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1E3E2-870B-43C1-B507-B1D20392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1403C-984B-4A6D-919F-F360ABFD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 · FINRL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638C9-A210-4ACF-920C-79738BD2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3104-9A63-45CC-A852-D0F282DC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FinRL: готовый pipeline, не готовый научный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71444-6D0A-4E0C-A847-C80B6DC6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Фреймворк ускоряет загрузку данных, построение среды и baseline, но не отменяет постановку эксперимента.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DA40E-15C0-4D91-99BB-29649D7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C16AE-94AF-4798-A604-0207A99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C73F5-2981-4C75-B616-534D6AE2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источники и признаки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C2D3C-6DCB-4221-AED1-F462F3D2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228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Загрузка, очистка, feature engineering и временное разбиение.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D3A2C-A729-4079-B756-2D4380A4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114BC-4834-47BE-B714-3BFD08D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2CDD1-701B-4EDB-AEE5-5B162EB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81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ENV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3985A-10D1-4841-BB95-9F5EECCB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479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market simulator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AD856-78DF-4EBC-A9D2-E0C1FDA7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86075"/>
            <a:ext cx="2228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Состояния, действия, reward, costs и ограничения.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7FA9D-9895-42CB-A655-9B01E0E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124F8-6F68-463F-A4CD-6777345F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36F36-5651-4F82-BC2D-FC8B3AB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81225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AGENT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158D6-9DC6-4F17-9622-77192FC4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DRL algorithms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BEE33-49DF-4D0A-922A-90DFAEE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86075"/>
            <a:ext cx="2228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Обучение и сохранение моделей; сравнение нескольких алгоритмов.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620F5-8F8F-40FA-90BD-30BB25EF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719DE-F837-44C4-9B62-F350CD59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47875"/>
            <a:ext cx="2257425" cy="266700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E9666-68BF-452C-BA10-B2B45BC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81225"/>
            <a:ext cx="19145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EVAL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5ADFA7-FD1A-4E89-92EC-9898CD1F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47925"/>
            <a:ext cx="1914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backtest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E405F-25FB-45D6-82DD-7047372F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86075"/>
            <a:ext cx="19145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Метрики, baseline, stress-сценарии и воспроизводимость.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A931C-7D03-4AEA-8A7F-B23CF3F2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86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6A6E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42bdb7893f14e7e"/>
              </a:rPr>
              <a:t>github.com/AI4Finance-Foundation/FinRL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226E6-A980-43C7-BBA5-1DCD9AD7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70edf86903d4e67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3288816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b235b636e45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C9756-191C-4CD6-B9AE-96A12E0A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2E975-45DE-4553-B37B-C958530F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 ·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6DA57-499A-42D5-A83D-482D1CFC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37BE9-48FB-46C2-A73A-99A46C7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Почему несколько агентов — это новая задача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C1590-ACE6-4C83-B15A-27F150D5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Для каждого агента остальные агенты становятся частью меняющейся среды.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DA003-192F-46EA-B08A-058DC9A6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FF6D2-4D49-4101-ADDD-086933A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NON-STATIONARITY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CD98E-B05A-4EC6-BE9D-318F69FA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движущаяся цель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CD3B0-E2BB-45FB-B78B-05453C3B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86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Политики других агентов обновляются; переходы уже не выглядят стационарными.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113F4-9D3F-4D15-8F01-7EF9AD7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DDE95-5F8C-4536-9A9C-5156E8E3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CREDIT ASSIGNMENT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3B16-92D8-4D34-8F6F-115D51E0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кто помог?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CE274-7E9D-46BE-B994-143A120B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86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Общая награда не объясняет индивидуальный вклад и может вызывать free-riding.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1607D-D941-4533-B0D2-6A4AC5CD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C0B8B-EB6E-4C91-9A1A-FB38ACD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SCALABILITY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74718-ADCD-4E3B-AD6D-E4C5B667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joint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0D539-09A5-434C-81A3-87D638EA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67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Совместное пространство действий растёт экспоненциально с числом агентов.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0BE1FB-B72B-4CCB-8568-E0012AF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86375"/>
            <a:ext cx="7620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7F97E-FDC9-41E4-886B-63F7655F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0067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5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CTDE = centralized training + decentralized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808EB-411A-429D-9523-7E815B9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глобальная информация доступна критику при обучении, но не обязательна каждой политике при исполнении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C97D2-29B3-48A1-B1AC-5AFC12D2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279dd74a4b546d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79635371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844de386c48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6052D-D957-4BF7-973C-AFF0F2E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E64CE-40F3-467B-A8D4-D6BEC2B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 ·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2F36C-FAB5-4542-AF2D-9C8092D0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153C5-ABF9-49E1-81D3-B3FDD463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Карта методов MARL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6877D-D190-4879-8D5A-14BAB7B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Выбор зависит от типа действий, кооперации и доступности общего состояния.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94E25-F566-4341-93DA-D8E8334D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40077-2452-46F7-8CF7-416EA08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7E303-081A-43E8-9790-5B38B85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Independent 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6FA3A-8803-4916-BDB1-11C0BC3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228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просто, но нестационарно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 допущения метода на своей постановке.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19078-5FA4-4781-9212-6ACC8F89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FE87D-ADA2-4992-8967-DDCB6230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44490-064D-49D1-8305-EF00C9B8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MADDPG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49050-45EE-4120-86D1-A19675B2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2228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actor–critic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непрерывные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 допущения метода на своей постановке.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5E061-CF4F-4918-A22C-5246975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9DF35-E017-4A9E-AE2E-100133A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9BDA6-4ED7-4370-8FED-1A10CEFA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QMIX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A6FB7-DD51-490B-8697-369CE095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2228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value decomposition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монотонное смешивание 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 допущения метода на своей постановке.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FF59F-57C6-4908-85E0-B80081C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89053-CB9F-40C2-B455-4C08EBAD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228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52A72-6FEB-4986-8C0A-30384D7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MAPPO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9F6A4-82D7-4F49-8C6C-75ABCA5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2288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5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policy gradient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сильный кооперативный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Проверить допущения метода на своей постановке.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1E917-5E04-483C-B9B4-CEB7ECF6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c084697dfd145e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99956085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e14ee2b344b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A6BD8-AA62-4BD9-9846-FF3EBEE3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833CA-F54F-4865-9EA7-21960EE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 ·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43A64-824D-4BB9-866F-CE260381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4191D-68DC-4386-99D9-6A3ADDA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Инструменты: среда, обучение, эксперименты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4628B-EF3C-4C28-8DDC-CFD7779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смешивайте API среды и реализацию алгоритма.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0B8A4-2AF4-46D6-B695-30ABE538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485BF-6542-4A2F-A008-2D4FBEF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PETTINGZOO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4CD1F-C702-4484-BFFC-25CA34AC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API среды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13428-653D-4CBB-8D29-654CF799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086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AEC для последовательных ходов; Parallel API для одновременных действий. Тесты корректности пользовательской среды.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207FE-69C1-4C6A-82A6-2CE5210E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F52E7-8BB6-4316-9628-E1FA1DA2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086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RLLIB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F36DD-0C3E-48FE-93DA-EE045499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distributed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EC64B-D68B-4640-BF5E-EC2A1E94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33700"/>
            <a:ext cx="3086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Масштабирование экспериментов, policy mapping, multi-agent environment interface.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A02B1-7E0C-465B-8059-2DC37AC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099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4F806-28D9-4893-ABA7-69CE4296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3067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MARLLIB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3B121-B6FB-4FB0-8BB7-E200F44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algorithm zoo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BCA6C-BE0F-42CC-BCF1-3D828FF9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3067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Единый слой запуска и сравнения MARL-алгоритмов поверх RLlib.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61165-37FC-4A2A-8AC3-601A044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Минимум для защиты: версии зависимостей, seed, конфигурация среды, mapping policy→agent и метрики по агентам.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72FCFC-3213-45BF-9BFF-DBCA4A10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6bb2b29990047d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332014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ead6896fd4a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D2A2A-D925-427A-9D99-0A4652D4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8E668-7D43-4C56-9F42-489CC7D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 ·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15115-2809-4327-B831-C20D9C6F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ACFC5-5478-4AB3-B1AD-5931B08E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Три роли в портфельной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9AA57-176D-406F-B6DF-3E67860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Координатор — механизм агрегации, не четвёртый обучающийся агент.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A01C9-8245-459E-9D7F-FBC8097D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EA3A3-4225-4A62-AD73-017D16C4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AGENT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227B6-3F3E-43C2-989B-496E4A3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Market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1C94B-D975-4DEA-8A0C-B3E084A6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Оценивает тренд, импульс и режим волатильности; предлагает направление позиции.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A2D5-D8A9-4C7B-BB79-CBC12EC9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21697-3E85-4262-96B6-81EB7DA6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85975"/>
            <a:ext cx="2895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C52C35"/>
                </a:solidFill>
                <a:latin typeface="Times New Roman"/>
                <a:ea typeface="Times New Roman"/>
                <a:cs typeface="Times New Roman"/>
              </a:rPr>
              <a:t>AGENT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F1A03-BCF9-435F-9089-87CC46C1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526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Risk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4ABE4-9FD0-499D-821E-5CD3AE03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Ограничивает позицию по VaR, drawdown, волатильности и лимитам.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2A98E-4AE6-454B-8E2A-AB9701D6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219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63FDB-4749-4E69-BFF4-0C70E0A4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85975"/>
            <a:ext cx="2876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AGENT 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9F267-7E61-4619-AFCC-2D40AB95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5267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News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AD725-2AAF-4634-9F01-DFD8880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90825"/>
            <a:ext cx="2876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Преобразует события и сентимент в сигнал с оценкой доверия.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D7FD8-47EE-48EB-9ECB-0A1C6BB8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79B92-1069-4BDB-A43C-E7922BC5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F9B5F-9C2A-4E9D-9532-DEBD603F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04E4E-EEA1-4FCD-8151-EB7D525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00B4D-C279-460B-9D05-1FB8A054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6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proposal = {signal, confidence, rationale} → constraints →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F8F602-3878-4A5A-B461-EEC6B1EB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общий контракт делает поведение агентов наблюдаемым и тестируемым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1D2E5-3978-47D8-8D31-C1AD052F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1a6120a900d4436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5412195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06efa2fa94d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CAFB9-64E4-408A-AB0E-3662A747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BF71B-A1F5-49F5-9F20-E7A96EAC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 ·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931E4-FDE9-4EC7-9426-F3FAE016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E3D5A-877B-472B-A0D7-2429DE0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Контракт сообщений и агрегатор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C9E07-FC66-4F6F-8AE0-12E385D0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Типизированное сообщение помогает трассировать вклад каждого агента.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61CCE-3217-4269-B06A-8CFB6832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18C6D-797E-428D-8AFD-CF09826F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proposals =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"market": market_agent.act(observation),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"risk": risk_agent.act(observation),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"news": news_agent.act(observation),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score = sum(p.signal * p.confidence * weights[name]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        for name, p in proposals.items())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allocation = risk_agent.project(score, position_limit)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92E10-FAEF-4E8A-93A4-40D91035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F787E-AFCB-4911-84E5-634AAF4E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ЧТО ПРОИСХОДИТ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036E1-F00D-4512-991A-6DC604F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Читаем сверху вниз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DA9B2-A487-4BC6-9F6A-9168ECDB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295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Сигнал отделён от confidence. Risk Agent применяет hard constraint после агрегирования, поэтому лимит не может быть отменён голосованием.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75C4F-A70C-49AC-B917-91DB387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29278-E338-495D-8164-D87A9A23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КОНТРАКТ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F7153-503A-4B79-B7EB-7C145247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Вход и выход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26C4B-6F6D-4FC1-8B2A-757C951B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295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Вход: общее observation. Выход: proposals и допустимое распределение портфеля.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8BAB8-83DA-402E-9C5F-B1808D40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8b82242310c4c47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148229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d6c07127046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AFFC7-3EC6-4A75-BD2D-C0F45A59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D881B-C291-4136-97F8-7543C94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 ·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0B42A-A4E7-4B90-86DC-9E54C71B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848FF-BAAE-4749-B60B-D4F620FF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Живая демонстрация: три агента в одном портфеле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B6795-DB7C-484E-B50E-4BF5F54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Изменяйте вес новостей, лимит позиции и режим кооперации.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ac09299de4032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FA7A4-42AB-4385-A1FE-26A1303A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4D4EF-4A89-4242-AD77-B9CBA322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LIVE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1D45F-2AD0-405C-818F-FC7F1BF8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3360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показать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8E927-66CE-4F59-B509-3BE3682C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71750"/>
            <a:ext cx="25050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3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Нажать «30 дней».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Увеличить вес News Agent.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Снизить лимит позиции.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CTDE → independent.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5) Объяснить, кто изменил итоговую аллокацию.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07F36-6F57-4D7C-B967-8EDCCDAE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C815D-5656-4680-8704-B1688E9F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ССЫЛКА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55A03-25DD-44AA-9C5C-8B0B6495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7675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Открыть стенд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EE7FF-9078-4173-B267-DBA7C145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14900"/>
            <a:ext cx="2505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Кнопки и параметры работают прямо в браузере.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F019C-FCF8-42EE-971F-05445EC9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82aaedcd0f4494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8203851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ac62a5cf444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EE031-B5D7-4DF0-9192-435B764C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05F01-7F82-4C1A-AA6D-A8BCED75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ЗАЩИТА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C514B-B5D9-47C8-93F3-67C582CC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A96C5-7C37-4FD1-88CF-5AADF59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Итоговая архитектура лабораторного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80532-62E0-488F-9B30-2FBC391D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Один репозиторий, одинаковые контракты, разные агенты.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BA673-B350-4365-A377-86B6C4C2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35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C0401-1ECB-4FD5-A7CC-45113E84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demo/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0DA01-97CB-44B3-B2AE-7E7122B9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веб-интерфейс и сценарий демонстрации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F4634-EC03-4224-86F1-E93F5328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288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C1C1A-1348-4AAC-BF09-60C4AE6D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43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5E7E3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E7E31"/>
                </a:solidFill>
                <a:latin typeface="Calibri"/>
                <a:ea typeface="Calibri"/>
                <a:cs typeface="Calibri"/>
              </a:rPr>
              <a:t>evaluate.py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E2856-5E6B-4E3D-B663-DAAB84B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метрики, baseline, CI и графики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798F9-C042-4E6D-AE86-71F8BFBF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2420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84E1E-BB93-47E0-9AC8-8016211B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A86716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A86716"/>
                </a:solidFill>
                <a:latin typeface="Calibri"/>
                <a:ea typeface="Calibri"/>
                <a:cs typeface="Calibri"/>
              </a:rPr>
              <a:t>train.py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1F454-0525-4622-941C-C4D786D4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цикл обучения, checkpoints, seed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39314-3A4F-44D4-8786-4B16D572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893B0-6895-4CFA-B26F-440B9F9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5FA7"/>
                </a:solidFill>
                <a:latin typeface="Calibri"/>
                <a:ea typeface="Calibri"/>
                <a:cs typeface="Calibri"/>
              </a:rPr>
              <a:t>agents/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76A1D-E262-404E-A8A4-FC0F15DB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bandit · CEM · DDDQN · MARL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BF67E-D91F-4968-BD1C-0844094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2C3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DEA3F-8978-4091-97B6-856E28CD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52C35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C52C35"/>
                </a:solidFill>
                <a:latin typeface="Calibri"/>
                <a:ea typeface="Calibri"/>
                <a:cs typeface="Calibri"/>
              </a:rPr>
              <a:t>envs/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A3748-2B84-4B19-82EF-8951E788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DogBoneEnv · TradingEnv · PettingZoo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D400E-5DFE-4A76-8598-B405E352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01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4F4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5ACF0-E9A4-4FD1-8C1A-0F04342A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data/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D122E-543B-4348-8C4D-27CC3028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244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версионирование и временное разбиение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0A29F-C1CA-44E3-8C5C-2D2786AF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f2d4cad3c4f45e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0334482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d695096d842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103FC-5B6F-4B1C-81D1-03F144D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68FDF-57FE-4497-A789-14A90D1D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ЗАЩИТА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A238F-C2FA-4B99-8776-7237D9F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41D5C-9293-4080-B3EF-0262E86F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Чек-лист перед показом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FA39-7B75-45B4-99BB-ED9E494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Демонстрация должна подтверждать вывод, а не заменять эксперимент.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EA291-5F30-4A4B-89B8-8E3AE190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8C7A3-36DA-42EF-A791-3BB980AF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Среда проходит unit/API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61339-BBDA-44D2-AE2A-5F8A7A0D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0363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FA372-132F-4C07-85FD-442611F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1313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Все seed и версии зафиксированы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9D144-A55E-4B5B-8D5B-7274231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AA71E-D7DE-4C10-8A77-A167F63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Есть baseline и абляция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655DC-6B88-4173-8B3E-2E136ED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1988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304C9-97D0-40F5-BC1C-0FD49157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Train/validation/test разделены корректно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4A880-8B74-480C-9A7C-EA6E92D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4E5A8-2033-42E7-83B1-6034B494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Графики построены по нескольким запускам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C9B48-581A-498E-BB9A-EAB89F34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0363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3CBB3-4124-429E-9AFF-720E190C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1313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Ошибки и ограничения описаны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61F10-1CFC-49F8-AC02-D6837009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861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19CBA-6F3C-453E-B3C7-B1ABC80E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Код запускается одной командой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EEF0A-5095-492C-B412-82A7A5A8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1988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6F8FF-19BF-4C97-A9AF-0B904901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2938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□ Live demo имеет запасной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5C2E2-94F7-48DF-BE13-30976332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3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D6211-2EA3-4770-A423-73DA45A1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959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сильный вывод = эффект + неопределённость + границы применимости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AD826-300E-4A1C-A6D6-08D299A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делайте инвестиционных выводов по учебному backtest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621AE-7FCF-4000-80A1-17AB63B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2ef8bef5110411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4707507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0b9c2cbe946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03F5-DACC-4561-9156-574955EE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EF492-7871-4D18-8AC7-B7616874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9DDC6-3E38-41F6-A5D0-D2F11F5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CB070-A0CF-41E8-9663-F0BAC09C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Источники по основам и Deep 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1E272-51BF-468D-8E01-C49C4E8E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Все названия кликабельны и ведут к первичным публикациям или официальной документации.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CAF1B-6E53-463B-8521-54C357B4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D414-6340-4782-A451-75E6E735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954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552b270dcf0e4a27"/>
              </a:rPr>
              <a:t>Sutton &amp; Barto · Reinforcement Learning: An 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6AC41-E042-42A5-953E-6A482483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954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incompleteideas.net/book/the-book-2nd.html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B50D-75EA-4CCC-8D8F-2D224339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896BD-F38D-4245-9665-0326D7F8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a80609bbb8484dbe"/>
              </a:rPr>
              <a:t>Gymnasium · Env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C4645-593E-4B90-B870-ACFD4F48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336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gymnasium.farama.org/main/api/env/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DDE70-511F-4608-A750-D882EAEC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0A434-5EE8-4D3D-8DDF-DB49379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be691b3a615848a8"/>
              </a:rPr>
              <a:t>Mnih et al. · DQN · Nature 2015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69BAB-18AD-4A50-B5CD-72AD6172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doi.org/10.1038/nature14236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D7DD9-BFB4-47E4-9211-A8E37085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121EA-F6B5-4683-B9C7-D6ABB9B7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279640b78724444e"/>
              </a:rPr>
              <a:t>van Hasselt et al. · Double DQN · AAAI 2016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0D3F9-0A08-4580-9026-AE2F36D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00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doi.org/10.1609/aaai.v30i1.10295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241F6-63F4-4550-9E8A-4A5D92C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599A3-436B-4EEC-BBF4-140F53C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482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28c56eaef1404591"/>
              </a:rPr>
              <a:t>Wang et al. · Dueling Networks · ICML 2016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76A4C-9A2C-4307-94AB-9E1AEF4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482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proceedings.mlr.press/v48/wangf16.html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7D34FD-E5AC-499B-B499-A566F6CE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acaca6b7b5d42b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7229935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b67b22b5b4e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B8D98-CB08-492E-9F5F-826FEF2E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BA7E6-B681-44DF-A1E3-CD35A0D8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7E90C-1C32-4AB6-A2E6-9E1A674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532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AF936-7D10-4D80-B001-3BCFA85D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Источники по финансам и MARL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F62C0-A427-4E10-BD0A-F02897DF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Все названия кликабельны и ведут к первичным публикациям или официальной документации.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34ACE-7F6C-4A1C-ACB5-9FAD9306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A579B-ADD9-4792-88EB-57FA3C3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954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097a652d27f34825"/>
              </a:rPr>
              <a:t>FinRL · официальный репозиторий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487C4-536C-4D1A-B02D-F4EE8083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954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github.com/AI4Finance-Foundation/FinRL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9756D-A47D-4391-B7FB-53FC41AB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8DD88-BE6F-413F-86A3-D9A03837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4394f0f64c324544"/>
              </a:rPr>
              <a:t>PettingZoo · официальная документация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5F763-3E84-44D5-A9A7-CACFF3B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336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pettingzoo.farama.org/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D31FC-2F74-4F9D-A89B-E8CB622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55F6E-7E03-40E8-9B3C-2FAA228E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f902c76f8529438e"/>
              </a:rPr>
              <a:t>QMIX · ICML 2018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1A93B-5D66-4A5E-837E-5176234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proceedings.mlr.press/v80/rashid18a.html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EFAE5-A049-40A7-A5C5-1AB72F3B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1224D-A49B-4475-A2F4-BBF288D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d754c237526249ba"/>
              </a:rPr>
              <a:t>MADDPG · NeurIPS 2017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E3657-DCDC-4DAE-BE30-588B1CCB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100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proceedings.neurips.cc/paper/2017/hash/68a9750337a418a86fe06c1991a1d64c-Abstract.html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FDBBC8-5076-42D6-A4C7-8CE1C67A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D1A58-DC19-4AED-B830-9F10D39B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482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e554034beb844fbb"/>
              </a:rPr>
              <a:t>MAPPO · исследование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FE437-5B53-45BE-A64F-9045CDA6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482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16A6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6A6E"/>
                </a:solidFill>
                <a:latin typeface="Calibri"/>
                <a:ea typeface="Calibri"/>
                <a:cs typeface="Calibri"/>
              </a:rPr>
              <a:t>arxiv.org/abs/2103.01955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338EF-0742-409E-95C2-32FE638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70a371fe2bb42d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007687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2026-09-17T17:45:07.6710000Z</dcterms:created>
  <dcterms:modified xsi:type="dcterms:W3CDTF">2026-09-17T17:45:07.6710000Z</dcterms:modified>
</coreProperties>
</file>
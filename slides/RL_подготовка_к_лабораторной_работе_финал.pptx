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f30899a2fa4c97" /><Relationship Type="http://schemas.openxmlformats.org/officeDocument/2006/relationships/extended-properties" Target="/docProps/app.xml" Id="R54185f59167e4f76" /><Relationship Type="http://schemas.openxmlformats.org/officeDocument/2006/relationships/officeDocument" Target="/ppt/presentation.xml" Id="R25a5325a5b42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88e3469854f55"/>
  </p:sldMasterIdLst>
  <p:notesMasterIdLst>
    <p:notesMasterId xmlns:r="http://schemas.openxmlformats.org/officeDocument/2006/relationships" r:id="R9fc34c4b35354d52"/>
  </p:notesMasterIdLst>
  <p:sldIdLst>
    <p:sldId xmlns:r="http://schemas.openxmlformats.org/officeDocument/2006/relationships" id="256" r:id="Ra3057baf5d744581"/>
    <p:sldId xmlns:r="http://schemas.openxmlformats.org/officeDocument/2006/relationships" id="257" r:id="R9a5619f50c6b425b"/>
    <p:sldId xmlns:r="http://schemas.openxmlformats.org/officeDocument/2006/relationships" id="258" r:id="Rba41896e92934864"/>
    <p:sldId xmlns:r="http://schemas.openxmlformats.org/officeDocument/2006/relationships" id="259" r:id="R97bc73c91fd14084"/>
    <p:sldId xmlns:r="http://schemas.openxmlformats.org/officeDocument/2006/relationships" id="260" r:id="R1085e8cc623241ab"/>
    <p:sldId xmlns:r="http://schemas.openxmlformats.org/officeDocument/2006/relationships" id="261" r:id="R5a90134acb9d4cc4"/>
    <p:sldId xmlns:r="http://schemas.openxmlformats.org/officeDocument/2006/relationships" id="262" r:id="R38a59098243c401d"/>
    <p:sldId xmlns:r="http://schemas.openxmlformats.org/officeDocument/2006/relationships" id="263" r:id="R2da8e209514e4537"/>
    <p:sldId xmlns:r="http://schemas.openxmlformats.org/officeDocument/2006/relationships" id="264" r:id="R6740a980a4ae488a"/>
    <p:sldId xmlns:r="http://schemas.openxmlformats.org/officeDocument/2006/relationships" id="265" r:id="R63fedd30c3ff4f4c"/>
    <p:sldId xmlns:r="http://schemas.openxmlformats.org/officeDocument/2006/relationships" id="266" r:id="Rb9977dc0273f4008"/>
    <p:sldId xmlns:r="http://schemas.openxmlformats.org/officeDocument/2006/relationships" id="267" r:id="R2204e4d8abee4495"/>
    <p:sldId xmlns:r="http://schemas.openxmlformats.org/officeDocument/2006/relationships" id="268" r:id="R3e107aae39264500"/>
    <p:sldId xmlns:r="http://schemas.openxmlformats.org/officeDocument/2006/relationships" id="269" r:id="R2336e077570144ce"/>
    <p:sldId xmlns:r="http://schemas.openxmlformats.org/officeDocument/2006/relationships" id="270" r:id="R124adff7ebbf4cbb"/>
    <p:sldId xmlns:r="http://schemas.openxmlformats.org/officeDocument/2006/relationships" id="271" r:id="R75a1e342cd81499e"/>
    <p:sldId xmlns:r="http://schemas.openxmlformats.org/officeDocument/2006/relationships" id="272" r:id="R56e73cdf5a4142d7"/>
    <p:sldId xmlns:r="http://schemas.openxmlformats.org/officeDocument/2006/relationships" id="273" r:id="Rb59ac82bdd8d4217"/>
    <p:sldId xmlns:r="http://schemas.openxmlformats.org/officeDocument/2006/relationships" id="274" r:id="R1d52a8af3e1a4b00"/>
    <p:sldId xmlns:r="http://schemas.openxmlformats.org/officeDocument/2006/relationships" id="275" r:id="R380789cb4431449a"/>
    <p:sldId xmlns:r="http://schemas.openxmlformats.org/officeDocument/2006/relationships" id="276" r:id="Re0e672aa1dc34344"/>
    <p:sldId xmlns:r="http://schemas.openxmlformats.org/officeDocument/2006/relationships" id="277" r:id="R6ffc4a38246e499e"/>
    <p:sldId xmlns:r="http://schemas.openxmlformats.org/officeDocument/2006/relationships" id="278" r:id="R4271ed9f4f5546d1"/>
    <p:sldId xmlns:r="http://schemas.openxmlformats.org/officeDocument/2006/relationships" id="279" r:id="R07e0869d38444f92"/>
    <p:sldId xmlns:r="http://schemas.openxmlformats.org/officeDocument/2006/relationships" id="280" r:id="R238664c4230e478e"/>
    <p:sldId xmlns:r="http://schemas.openxmlformats.org/officeDocument/2006/relationships" id="281" r:id="R997a7f0457464850"/>
    <p:sldId xmlns:r="http://schemas.openxmlformats.org/officeDocument/2006/relationships" id="282" r:id="R1966ca7183d84e3a"/>
    <p:sldId xmlns:r="http://schemas.openxmlformats.org/officeDocument/2006/relationships" id="283" r:id="R5e021f692f044f1c"/>
    <p:sldId xmlns:r="http://schemas.openxmlformats.org/officeDocument/2006/relationships" id="284" r:id="Rbce037b7b3bb420c"/>
    <p:sldId xmlns:r="http://schemas.openxmlformats.org/officeDocument/2006/relationships" id="285" r:id="R543bff4ec85a4c7f"/>
    <p:sldId xmlns:r="http://schemas.openxmlformats.org/officeDocument/2006/relationships" id="286" r:id="Rdbf2aab9f7d44a7f"/>
    <p:sldId xmlns:r="http://schemas.openxmlformats.org/officeDocument/2006/relationships" id="287" r:id="R29890cf4f19144f0"/>
    <p:sldId xmlns:r="http://schemas.openxmlformats.org/officeDocument/2006/relationships" id="288" r:id="Ra9ac96772bbf4b98"/>
    <p:sldId xmlns:r="http://schemas.openxmlformats.org/officeDocument/2006/relationships" id="289" r:id="R337b260df78e4ba9"/>
    <p:sldId xmlns:r="http://schemas.openxmlformats.org/officeDocument/2006/relationships" id="290" r:id="R69f3586f529b491d"/>
    <p:sldId xmlns:r="http://schemas.openxmlformats.org/officeDocument/2006/relationships" id="291" r:id="R763e811d408b47be"/>
    <p:sldId xmlns:r="http://schemas.openxmlformats.org/officeDocument/2006/relationships" id="292" r:id="Rddf62f8bcf8845df"/>
    <p:sldId xmlns:r="http://schemas.openxmlformats.org/officeDocument/2006/relationships" id="293" r:id="Rb585b4b2e47e44cd"/>
    <p:sldId xmlns:r="http://schemas.openxmlformats.org/officeDocument/2006/relationships" id="294" r:id="R1a3b181ac3a2419d"/>
    <p:sldId xmlns:r="http://schemas.openxmlformats.org/officeDocument/2006/relationships" id="295" r:id="R7fe685e2acb143b0"/>
    <p:sldId xmlns:r="http://schemas.openxmlformats.org/officeDocument/2006/relationships" id="296" r:id="R7c185689c17c477d"/>
    <p:sldId xmlns:r="http://schemas.openxmlformats.org/officeDocument/2006/relationships" id="297" r:id="R67b3a45078594908"/>
    <p:sldId xmlns:r="http://schemas.openxmlformats.org/officeDocument/2006/relationships" id="298" r:id="R53857fa472794b94"/>
    <p:sldId xmlns:r="http://schemas.openxmlformats.org/officeDocument/2006/relationships" id="299" r:id="R0ea8c756f1fe42bc"/>
    <p:sldId xmlns:r="http://schemas.openxmlformats.org/officeDocument/2006/relationships" id="300" r:id="R7ca804f1d9bc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d86dd70b14a1c" /><Relationship Type="http://schemas.openxmlformats.org/officeDocument/2006/relationships/slideMaster" Target="/ppt/slideMasters/slideMaster1.xml" Id="R2c688e3469854f55" /><Relationship Type="http://schemas.openxmlformats.org/officeDocument/2006/relationships/notesMaster" Target="/ppt/notesMasters/notesMaster1.xml" Id="R9fc34c4b35354d52" /><Relationship Type="http://schemas.openxmlformats.org/officeDocument/2006/relationships/presProps" Target="/ppt/presProps.xml" Id="Rb490e314b2324413" /><Relationship Type="http://schemas.openxmlformats.org/officeDocument/2006/relationships/tableStyles" Target="/ppt/tableStyles.xml" Id="Re2fd877b612a4d15" /><Relationship Type="http://schemas.openxmlformats.org/officeDocument/2006/relationships/slide" Target="/ppt/slides/slide1.xml" Id="Ra3057baf5d744581" /><Relationship Type="http://schemas.openxmlformats.org/officeDocument/2006/relationships/slide" Target="/ppt/slides/slide2.xml" Id="R9a5619f50c6b425b" /><Relationship Type="http://schemas.openxmlformats.org/officeDocument/2006/relationships/slide" Target="/ppt/slides/slide3.xml" Id="Rba41896e92934864" /><Relationship Type="http://schemas.openxmlformats.org/officeDocument/2006/relationships/slide" Target="/ppt/slides/slide4.xml" Id="R97bc73c91fd14084" /><Relationship Type="http://schemas.openxmlformats.org/officeDocument/2006/relationships/slide" Target="/ppt/slides/slide5.xml" Id="R1085e8cc623241ab" /><Relationship Type="http://schemas.openxmlformats.org/officeDocument/2006/relationships/slide" Target="/ppt/slides/slide6.xml" Id="R5a90134acb9d4cc4" /><Relationship Type="http://schemas.openxmlformats.org/officeDocument/2006/relationships/slide" Target="/ppt/slides/slide7.xml" Id="R38a59098243c401d" /><Relationship Type="http://schemas.openxmlformats.org/officeDocument/2006/relationships/slide" Target="/ppt/slides/slide8.xml" Id="R2da8e209514e4537" /><Relationship Type="http://schemas.openxmlformats.org/officeDocument/2006/relationships/slide" Target="/ppt/slides/slide9.xml" Id="R6740a980a4ae488a" /><Relationship Type="http://schemas.openxmlformats.org/officeDocument/2006/relationships/slide" Target="/ppt/slides/slide10.xml" Id="R63fedd30c3ff4f4c" /><Relationship Type="http://schemas.openxmlformats.org/officeDocument/2006/relationships/slide" Target="/ppt/slides/slide11.xml" Id="Rb9977dc0273f4008" /><Relationship Type="http://schemas.openxmlformats.org/officeDocument/2006/relationships/slide" Target="/ppt/slides/slide12.xml" Id="R2204e4d8abee4495" /><Relationship Type="http://schemas.openxmlformats.org/officeDocument/2006/relationships/slide" Target="/ppt/slides/slide13.xml" Id="R3e107aae39264500" /><Relationship Type="http://schemas.openxmlformats.org/officeDocument/2006/relationships/slide" Target="/ppt/slides/slide14.xml" Id="R2336e077570144ce" /><Relationship Type="http://schemas.openxmlformats.org/officeDocument/2006/relationships/slide" Target="/ppt/slides/slide15.xml" Id="R124adff7ebbf4cbb" /><Relationship Type="http://schemas.openxmlformats.org/officeDocument/2006/relationships/slide" Target="/ppt/slides/slide16.xml" Id="R75a1e342cd81499e" /><Relationship Type="http://schemas.openxmlformats.org/officeDocument/2006/relationships/slide" Target="/ppt/slides/slide17.xml" Id="R56e73cdf5a4142d7" /><Relationship Type="http://schemas.openxmlformats.org/officeDocument/2006/relationships/slide" Target="/ppt/slides/slide18.xml" Id="Rb59ac82bdd8d4217" /><Relationship Type="http://schemas.openxmlformats.org/officeDocument/2006/relationships/slide" Target="/ppt/slides/slide19.xml" Id="R1d52a8af3e1a4b00" /><Relationship Type="http://schemas.openxmlformats.org/officeDocument/2006/relationships/slide" Target="/ppt/slides/slide20.xml" Id="R380789cb4431449a" /><Relationship Type="http://schemas.openxmlformats.org/officeDocument/2006/relationships/slide" Target="/ppt/slides/slide21.xml" Id="Re0e672aa1dc34344" /><Relationship Type="http://schemas.openxmlformats.org/officeDocument/2006/relationships/slide" Target="/ppt/slides/slide22.xml" Id="R6ffc4a38246e499e" /><Relationship Type="http://schemas.openxmlformats.org/officeDocument/2006/relationships/slide" Target="/ppt/slides/slide23.xml" Id="R4271ed9f4f5546d1" /><Relationship Type="http://schemas.openxmlformats.org/officeDocument/2006/relationships/slide" Target="/ppt/slides/slide24.xml" Id="R07e0869d38444f92" /><Relationship Type="http://schemas.openxmlformats.org/officeDocument/2006/relationships/slide" Target="/ppt/slides/slide25.xml" Id="R238664c4230e478e" /><Relationship Type="http://schemas.openxmlformats.org/officeDocument/2006/relationships/slide" Target="/ppt/slides/slide26.xml" Id="R997a7f0457464850" /><Relationship Type="http://schemas.openxmlformats.org/officeDocument/2006/relationships/slide" Target="/ppt/slides/slide27.xml" Id="R1966ca7183d84e3a" /><Relationship Type="http://schemas.openxmlformats.org/officeDocument/2006/relationships/slide" Target="/ppt/slides/slide28.xml" Id="R5e021f692f044f1c" /><Relationship Type="http://schemas.openxmlformats.org/officeDocument/2006/relationships/slide" Target="/ppt/slides/slide29.xml" Id="Rbce037b7b3bb420c" /><Relationship Type="http://schemas.openxmlformats.org/officeDocument/2006/relationships/slide" Target="/ppt/slides/slide30.xml" Id="R543bff4ec85a4c7f" /><Relationship Type="http://schemas.openxmlformats.org/officeDocument/2006/relationships/slide" Target="/ppt/slides/slide31.xml" Id="Rdbf2aab9f7d44a7f" /><Relationship Type="http://schemas.openxmlformats.org/officeDocument/2006/relationships/slide" Target="/ppt/slides/slide32.xml" Id="R29890cf4f19144f0" /><Relationship Type="http://schemas.openxmlformats.org/officeDocument/2006/relationships/slide" Target="/ppt/slides/slide33.xml" Id="Ra9ac96772bbf4b98" /><Relationship Type="http://schemas.openxmlformats.org/officeDocument/2006/relationships/slide" Target="/ppt/slides/slide34.xml" Id="R337b260df78e4ba9" /><Relationship Type="http://schemas.openxmlformats.org/officeDocument/2006/relationships/slide" Target="/ppt/slides/slide35.xml" Id="R69f3586f529b491d" /><Relationship Type="http://schemas.openxmlformats.org/officeDocument/2006/relationships/slide" Target="/ppt/slides/slide36.xml" Id="R763e811d408b47be" /><Relationship Type="http://schemas.openxmlformats.org/officeDocument/2006/relationships/slide" Target="/ppt/slides/slide37.xml" Id="Rddf62f8bcf8845df" /><Relationship Type="http://schemas.openxmlformats.org/officeDocument/2006/relationships/slide" Target="/ppt/slides/slide38.xml" Id="Rb585b4b2e47e44cd" /><Relationship Type="http://schemas.openxmlformats.org/officeDocument/2006/relationships/slide" Target="/ppt/slides/slide39.xml" Id="R1a3b181ac3a2419d" /><Relationship Type="http://schemas.openxmlformats.org/officeDocument/2006/relationships/slide" Target="/ppt/slides/slide40.xml" Id="R7fe685e2acb143b0" /><Relationship Type="http://schemas.openxmlformats.org/officeDocument/2006/relationships/slide" Target="/ppt/slides/slide41.xml" Id="R7c185689c17c477d" /><Relationship Type="http://schemas.openxmlformats.org/officeDocument/2006/relationships/slide" Target="/ppt/slides/slide42.xml" Id="R67b3a45078594908" /><Relationship Type="http://schemas.openxmlformats.org/officeDocument/2006/relationships/slide" Target="/ppt/slides/slide43.xml" Id="R53857fa472794b94" /><Relationship Type="http://schemas.openxmlformats.org/officeDocument/2006/relationships/slide" Target="/ppt/slides/slide44.xml" Id="R0ea8c756f1fe42bc" /><Relationship Type="http://schemas.openxmlformats.org/officeDocument/2006/relationships/slide" Target="/ppt/slides/slide45.xml" Id="R7ca804f1d9bc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9340d5812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4d0f50e784da7" /><Relationship Type="http://schemas.openxmlformats.org/officeDocument/2006/relationships/notesMaster" Target="/ppt/notesMasters/notesMaster1.xml" Id="Rcb7cd04bca124a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0516253dd427c" /><Relationship Type="http://schemas.openxmlformats.org/officeDocument/2006/relationships/notesMaster" Target="/ppt/notesMasters/notesMaster1.xml" Id="R5c894cd43aab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40430a374419f" /><Relationship Type="http://schemas.openxmlformats.org/officeDocument/2006/relationships/notesMaster" Target="/ppt/notesMasters/notesMaster1.xml" Id="R8497ed2bd1e8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e221f5eb94188" /><Relationship Type="http://schemas.openxmlformats.org/officeDocument/2006/relationships/notesMaster" Target="/ppt/notesMasters/notesMaster1.xml" Id="Rd5a042a8bd52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2be8a291243ad" /><Relationship Type="http://schemas.openxmlformats.org/officeDocument/2006/relationships/notesMaster" Target="/ppt/notesMasters/notesMaster1.xml" Id="R146b9548b6ec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6ef72cba94299" /><Relationship Type="http://schemas.openxmlformats.org/officeDocument/2006/relationships/notesMaster" Target="/ppt/notesMasters/notesMaster1.xml" Id="Rf33f617c41cf43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80c79e030432c" /><Relationship Type="http://schemas.openxmlformats.org/officeDocument/2006/relationships/notesMaster" Target="/ppt/notesMasters/notesMaster1.xml" Id="Re5ca1d2c5d4c48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a67f000d24b89" /><Relationship Type="http://schemas.openxmlformats.org/officeDocument/2006/relationships/notesMaster" Target="/ppt/notesMasters/notesMaster1.xml" Id="R9dbc70481d2140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21aec5c604b8b" /><Relationship Type="http://schemas.openxmlformats.org/officeDocument/2006/relationships/notesMaster" Target="/ppt/notesMasters/notesMaster1.xml" Id="Rd03c2267bb38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dc831be6348dc" /><Relationship Type="http://schemas.openxmlformats.org/officeDocument/2006/relationships/notesMaster" Target="/ppt/notesMasters/notesMaster1.xml" Id="R2b2357d3109f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fa992a9c8422b" /><Relationship Type="http://schemas.openxmlformats.org/officeDocument/2006/relationships/notesMaster" Target="/ppt/notesMasters/notesMaster1.xml" Id="R15676fcbea3b45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74c0a1a18430a" /><Relationship Type="http://schemas.openxmlformats.org/officeDocument/2006/relationships/notesMaster" Target="/ppt/notesMasters/notesMaster1.xml" Id="Red771da81f8544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a2dfa3230e43cf" /><Relationship Type="http://schemas.openxmlformats.org/officeDocument/2006/relationships/notesMaster" Target="/ppt/notesMasters/notesMaster1.xml" Id="Re543369bec514a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0c0d523fb84414" /><Relationship Type="http://schemas.openxmlformats.org/officeDocument/2006/relationships/notesMaster" Target="/ppt/notesMasters/notesMaster1.xml" Id="R33af1e6280bc4e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6dd5eca53d43c8" /><Relationship Type="http://schemas.openxmlformats.org/officeDocument/2006/relationships/notesMaster" Target="/ppt/notesMasters/notesMaster1.xml" Id="R6378a8a0bd8a42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5a45a40bd44c45" /><Relationship Type="http://schemas.openxmlformats.org/officeDocument/2006/relationships/notesMaster" Target="/ppt/notesMasters/notesMaster1.xml" Id="Rb145a908a9164e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97ff6f1e9943fd" /><Relationship Type="http://schemas.openxmlformats.org/officeDocument/2006/relationships/notesMaster" Target="/ppt/notesMasters/notesMaster1.xml" Id="Rf70332ec8a7844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e9dd6126f54737" /><Relationship Type="http://schemas.openxmlformats.org/officeDocument/2006/relationships/notesMaster" Target="/ppt/notesMasters/notesMaster1.xml" Id="R4c3d08a939bc47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ab114839cc4f83" /><Relationship Type="http://schemas.openxmlformats.org/officeDocument/2006/relationships/notesMaster" Target="/ppt/notesMasters/notesMaster1.xml" Id="Re669c4bbfdda41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e0d55706754c43" /><Relationship Type="http://schemas.openxmlformats.org/officeDocument/2006/relationships/notesMaster" Target="/ppt/notesMasters/notesMaster1.xml" Id="R08806bb9a01248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1db2279484468a" /><Relationship Type="http://schemas.openxmlformats.org/officeDocument/2006/relationships/notesMaster" Target="/ppt/notesMasters/notesMaster1.xml" Id="R52ab26b63b774b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db788a5f084793" /><Relationship Type="http://schemas.openxmlformats.org/officeDocument/2006/relationships/notesMaster" Target="/ppt/notesMasters/notesMaster1.xml" Id="R036576ccde4547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53568575c8464e" /><Relationship Type="http://schemas.openxmlformats.org/officeDocument/2006/relationships/notesMaster" Target="/ppt/notesMasters/notesMaster1.xml" Id="R0a25c1ca60cb42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246a4745ea43d8" /><Relationship Type="http://schemas.openxmlformats.org/officeDocument/2006/relationships/notesMaster" Target="/ppt/notesMasters/notesMaster1.xml" Id="Rfd0534be86184e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6f799a1f9e45e7" /><Relationship Type="http://schemas.openxmlformats.org/officeDocument/2006/relationships/notesMaster" Target="/ppt/notesMasters/notesMaster1.xml" Id="Rfe6420d8ca6d49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d71e2028fc4ff3" /><Relationship Type="http://schemas.openxmlformats.org/officeDocument/2006/relationships/notesMaster" Target="/ppt/notesMasters/notesMaster1.xml" Id="Re036b7da7b114e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c077c6bffe4af7" /><Relationship Type="http://schemas.openxmlformats.org/officeDocument/2006/relationships/notesMaster" Target="/ppt/notesMasters/notesMaster1.xml" Id="R93538ce83de440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9988354ed04595" /><Relationship Type="http://schemas.openxmlformats.org/officeDocument/2006/relationships/notesMaster" Target="/ppt/notesMasters/notesMaster1.xml" Id="Rd01af90296144e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beae1b7dd5482b" /><Relationship Type="http://schemas.openxmlformats.org/officeDocument/2006/relationships/notesMaster" Target="/ppt/notesMasters/notesMaster1.xml" Id="R5dcb3eec484c45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d5e4ec39154120" /><Relationship Type="http://schemas.openxmlformats.org/officeDocument/2006/relationships/notesMaster" Target="/ppt/notesMasters/notesMaster1.xml" Id="R2a652cc76a214bd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2daea2f1ef4bfa" /><Relationship Type="http://schemas.openxmlformats.org/officeDocument/2006/relationships/notesMaster" Target="/ppt/notesMasters/notesMaster1.xml" Id="R79ac10650fac42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9afc9f138634189" /><Relationship Type="http://schemas.openxmlformats.org/officeDocument/2006/relationships/notesMaster" Target="/ppt/notesMasters/notesMaster1.xml" Id="R5e219acce431476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01105a650b24642" /><Relationship Type="http://schemas.openxmlformats.org/officeDocument/2006/relationships/notesMaster" Target="/ppt/notesMasters/notesMaster1.xml" Id="Rae907d6b8b0546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b03b434d274cb6" /><Relationship Type="http://schemas.openxmlformats.org/officeDocument/2006/relationships/notesMaster" Target="/ppt/notesMasters/notesMaster1.xml" Id="R6533cc367e6d4fe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6d3875ace14708" /><Relationship Type="http://schemas.openxmlformats.org/officeDocument/2006/relationships/notesMaster" Target="/ppt/notesMasters/notesMaster1.xml" Id="R1964a8aeb5e1444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bd1c5ce0ae94e35" /><Relationship Type="http://schemas.openxmlformats.org/officeDocument/2006/relationships/notesMaster" Target="/ppt/notesMasters/notesMaster1.xml" Id="R44af0706a5424f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edc3480446441d2" /><Relationship Type="http://schemas.openxmlformats.org/officeDocument/2006/relationships/notesMaster" Target="/ppt/notesMasters/notesMaster1.xml" Id="Re13bf1fe4e3046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9b902aa3bb4bff" /><Relationship Type="http://schemas.openxmlformats.org/officeDocument/2006/relationships/notesMaster" Target="/ppt/notesMasters/notesMaster1.xml" Id="Re81da502fbd04c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4143a833edb4d60" /><Relationship Type="http://schemas.openxmlformats.org/officeDocument/2006/relationships/notesMaster" Target="/ppt/notesMasters/notesMaster1.xml" Id="Rcf8fa320be984f3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db32879a043408c" /><Relationship Type="http://schemas.openxmlformats.org/officeDocument/2006/relationships/notesMaster" Target="/ppt/notesMasters/notesMaster1.xml" Id="R835227a144944c6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0345a6242e34d0f" /><Relationship Type="http://schemas.openxmlformats.org/officeDocument/2006/relationships/notesMaster" Target="/ppt/notesMasters/notesMaster1.xml" Id="R2967244b51c94f0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f2f114e3d34088" /><Relationship Type="http://schemas.openxmlformats.org/officeDocument/2006/relationships/notesMaster" Target="/ppt/notesMasters/notesMaster1.xml" Id="R261e0f5da97f401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e44040a648414f" /><Relationship Type="http://schemas.openxmlformats.org/officeDocument/2006/relationships/notesMaster" Target="/ppt/notesMasters/notesMaster1.xml" Id="Rb8eb397a02eb474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53e4ec330494248" /><Relationship Type="http://schemas.openxmlformats.org/officeDocument/2006/relationships/notesMaster" Target="/ppt/notesMasters/notesMaster1.xml" Id="Rf80a29c426cc41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ebc8a09270b48bc" /><Relationship Type="http://schemas.openxmlformats.org/officeDocument/2006/relationships/notesMaster" Target="/ppt/notesMasters/notesMaster1.xml" Id="R8fdd48179535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978677f5a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84c8b9df04675" /><Relationship Type="http://schemas.openxmlformats.org/officeDocument/2006/relationships/slideLayout" Target="/ppt/slideLayouts/slideLayout1.xml" Id="R15d33de8ee994b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33de8ee994b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60704c94e48d3" /><Relationship Type="http://schemas.openxmlformats.org/officeDocument/2006/relationships/hyperlink" Target="https://petrnikitin20.github.io/RL_education/" TargetMode="External" Id="R30ba1e5565314817" /><Relationship Type="http://schemas.openxmlformats.org/officeDocument/2006/relationships/image" Target="/ppt/media/image.png" Id="Rfb4e59d1566e4e3d" /><Relationship Type="http://schemas.openxmlformats.org/officeDocument/2006/relationships/notesSlide" Target="/ppt/notesSlides/notesSlide1.xml" Id="Rf1ea2621795f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2a3afbeec4a1d" /><Relationship Type="http://schemas.openxmlformats.org/officeDocument/2006/relationships/hyperlink" Target="https://petrnikitin20.github.io/RL_education/" TargetMode="External" Id="R17807c6d0e254bff" /><Relationship Type="http://schemas.openxmlformats.org/officeDocument/2006/relationships/notesSlide" Target="/ppt/notesSlides/notesSlide2.xml" Id="R2e265601dcc9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6d2a502e34568" /><Relationship Type="http://schemas.openxmlformats.org/officeDocument/2006/relationships/hyperlink" Target="https://petrnikitin20.github.io/RL_education/" TargetMode="External" Id="R97bb5721ba024548" /><Relationship Type="http://schemas.openxmlformats.org/officeDocument/2006/relationships/notesSlide" Target="/ppt/notesSlides/notesSlide3.xml" Id="R51e0d497c237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7eb41185348b6" /><Relationship Type="http://schemas.openxmlformats.org/officeDocument/2006/relationships/hyperlink" Target="https://petrnikitin20.github.io/RL_education/" TargetMode="External" Id="R60bc2004e328443d" /><Relationship Type="http://schemas.openxmlformats.org/officeDocument/2006/relationships/notesSlide" Target="/ppt/notesSlides/notesSlide4.xml" Id="Re3be21173e93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9115a38d14266" /><Relationship Type="http://schemas.openxmlformats.org/officeDocument/2006/relationships/hyperlink" Target="https://petrnikitin20.github.io/RL_education/" TargetMode="External" Id="Ra1196b0ece7048ad" /><Relationship Type="http://schemas.openxmlformats.org/officeDocument/2006/relationships/notesSlide" Target="/ppt/notesSlides/notesSlide5.xml" Id="R806ab5fad501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7ec41359e42b5" /><Relationship Type="http://schemas.openxmlformats.org/officeDocument/2006/relationships/hyperlink" Target="https://petrnikitin20.github.io/RL_education/" TargetMode="External" Id="Rde349222c9034cfe" /><Relationship Type="http://schemas.openxmlformats.org/officeDocument/2006/relationships/notesSlide" Target="/ppt/notesSlides/notesSlide6.xml" Id="R257a7078a3cb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f4e719e8d4a04" /><Relationship Type="http://schemas.openxmlformats.org/officeDocument/2006/relationships/hyperlink" Target="https://petrnikitin20.github.io/RL_education/" TargetMode="External" Id="R8bcfadb0b0624131" /><Relationship Type="http://schemas.openxmlformats.org/officeDocument/2006/relationships/notesSlide" Target="/ppt/notesSlides/notesSlide7.xml" Id="R7836dc8d28e54c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af93571d4ebd" /><Relationship Type="http://schemas.openxmlformats.org/officeDocument/2006/relationships/hyperlink" Target="https://petrnikitin20.github.io/RL_education/" TargetMode="External" Id="R4132b583d94f44c1" /><Relationship Type="http://schemas.openxmlformats.org/officeDocument/2006/relationships/notesSlide" Target="/ppt/notesSlides/notesSlide8.xml" Id="Rf00f020575ff4d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2bd2cdcc448f2" /><Relationship Type="http://schemas.openxmlformats.org/officeDocument/2006/relationships/hyperlink" Target="https://petrnikitin20.github.io/RL_education/" TargetMode="External" Id="R9ca6eb0571a2415d" /><Relationship Type="http://schemas.openxmlformats.org/officeDocument/2006/relationships/notesSlide" Target="/ppt/notesSlides/notesSlide9.xml" Id="R79bacff43b82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b71e764414a22" /><Relationship Type="http://schemas.openxmlformats.org/officeDocument/2006/relationships/hyperlink" Target="https://petrnikitin20.github.io/RL_education/" TargetMode="External" Id="R3fc55585dd974d73" /><Relationship Type="http://schemas.openxmlformats.org/officeDocument/2006/relationships/notesSlide" Target="/ppt/notesSlides/notesSlide10.xml" Id="Rf89208e3546a4c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cad2f12804fe9" /><Relationship Type="http://schemas.openxmlformats.org/officeDocument/2006/relationships/hyperlink" Target="https://petrnikitin20.github.io/RL_education/" TargetMode="External" Id="Rcbbc4f15df2e4387" /><Relationship Type="http://schemas.openxmlformats.org/officeDocument/2006/relationships/notesSlide" Target="/ppt/notesSlides/notesSlide11.xml" Id="R1b749a9a8e5f44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bc5b28d94959" /><Relationship Type="http://schemas.openxmlformats.org/officeDocument/2006/relationships/hyperlink" Target="https://petrnikitin20.github.io/RL_education/" TargetMode="External" Id="R0c759bef87fe4054" /><Relationship Type="http://schemas.openxmlformats.org/officeDocument/2006/relationships/notesSlide" Target="/ppt/notesSlides/notesSlide12.xml" Id="R51bb624eb4fb42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bb63678d746e9" /><Relationship Type="http://schemas.openxmlformats.org/officeDocument/2006/relationships/hyperlink" Target="https://petrnikitin20.github.io/RL_education/" TargetMode="External" Id="Rb1f68af0680040f2" /><Relationship Type="http://schemas.openxmlformats.org/officeDocument/2006/relationships/notesSlide" Target="/ppt/notesSlides/notesSlide13.xml" Id="R95e469b197794a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fb24e538e40c8" /><Relationship Type="http://schemas.openxmlformats.org/officeDocument/2006/relationships/image" Target="/ppt/media/image2.png" Id="R2ed2f8e327c44d45" /><Relationship Type="http://schemas.openxmlformats.org/officeDocument/2006/relationships/hyperlink" Target="https://petrnikitin20.github.io/RL_education/" TargetMode="External" Id="R8ee73dd887af4341" /><Relationship Type="http://schemas.openxmlformats.org/officeDocument/2006/relationships/notesSlide" Target="/ppt/notesSlides/notesSlide14.xml" Id="R8302053fb9f44e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5ec4671ac4e1a" /><Relationship Type="http://schemas.openxmlformats.org/officeDocument/2006/relationships/chart" Target="/ppt/slides/charts/chart1.xml" Id="Rdbdf529b942546e8" /><Relationship Type="http://schemas.openxmlformats.org/officeDocument/2006/relationships/hyperlink" Target="https://petrnikitin20.github.io/RL_education/" TargetMode="External" Id="Rf8345e6e4e0848a1" /><Relationship Type="http://schemas.openxmlformats.org/officeDocument/2006/relationships/notesSlide" Target="/ppt/notesSlides/notesSlide15.xml" Id="R9a5f0f06b4304b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98a9661744359" /><Relationship Type="http://schemas.openxmlformats.org/officeDocument/2006/relationships/hyperlink" Target="https://petrnikitin20.github.io/RL_education/" TargetMode="External" Id="Rb3eba54f6bbd4c8f" /><Relationship Type="http://schemas.openxmlformats.org/officeDocument/2006/relationships/notesSlide" Target="/ppt/notesSlides/notesSlide16.xml" Id="R55237b95f23747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28491539433c" /><Relationship Type="http://schemas.openxmlformats.org/officeDocument/2006/relationships/hyperlink" Target="https://petrnikitin20.github.io/RL_education/" TargetMode="External" Id="Re7c3835037e84deb" /><Relationship Type="http://schemas.openxmlformats.org/officeDocument/2006/relationships/notesSlide" Target="/ppt/notesSlides/notesSlide17.xml" Id="Rc4fc8713502141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4d1342dca44bd" /><Relationship Type="http://schemas.openxmlformats.org/officeDocument/2006/relationships/hyperlink" Target="https://petrnikitin20.github.io/RL_education/" TargetMode="External" Id="R3664a2c9bb424442" /><Relationship Type="http://schemas.openxmlformats.org/officeDocument/2006/relationships/notesSlide" Target="/ppt/notesSlides/notesSlide18.xml" Id="Rf3fee8999b2d4e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7d12352d48c6" /><Relationship Type="http://schemas.openxmlformats.org/officeDocument/2006/relationships/hyperlink" Target="https://petrnikitin20.github.io/RL_education/" TargetMode="External" Id="Rcb57e0c09ae245e9" /><Relationship Type="http://schemas.openxmlformats.org/officeDocument/2006/relationships/notesSlide" Target="/ppt/notesSlides/notesSlide19.xml" Id="R2aeb54172ef347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ea56bb76140ba" /><Relationship Type="http://schemas.openxmlformats.org/officeDocument/2006/relationships/hyperlink" Target="https://petrnikitin20.github.io/RL_education/" TargetMode="External" Id="R2622737db3e5419a" /><Relationship Type="http://schemas.openxmlformats.org/officeDocument/2006/relationships/notesSlide" Target="/ppt/notesSlides/notesSlide20.xml" Id="R834976a8ff104d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8b2d9e564275" /><Relationship Type="http://schemas.openxmlformats.org/officeDocument/2006/relationships/hyperlink" Target="https://petrnikitin20.github.io/RL_education/" TargetMode="External" Id="R6ee38b86538b4156" /><Relationship Type="http://schemas.openxmlformats.org/officeDocument/2006/relationships/notesSlide" Target="/ppt/notesSlides/notesSlide21.xml" Id="R680de37569f44d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7105a6814a8d" /><Relationship Type="http://schemas.openxmlformats.org/officeDocument/2006/relationships/image" Target="/ppt/media/image3.png" Id="R59e7178cbd6e4d2f" /><Relationship Type="http://schemas.openxmlformats.org/officeDocument/2006/relationships/hyperlink" Target="https://petrnikitin20.github.io/RL_education/" TargetMode="External" Id="Rbc8ec51ea72c47d0" /><Relationship Type="http://schemas.openxmlformats.org/officeDocument/2006/relationships/notesSlide" Target="/ppt/notesSlides/notesSlide22.xml" Id="R4c8e458b045840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eb1ea4734cb1" /><Relationship Type="http://schemas.openxmlformats.org/officeDocument/2006/relationships/hyperlink" Target="https://petrnikitin20.github.io/RL_education/" TargetMode="External" Id="R1fe0d9a75c844e2e" /><Relationship Type="http://schemas.openxmlformats.org/officeDocument/2006/relationships/notesSlide" Target="/ppt/notesSlides/notesSlide23.xml" Id="R193a58e0a50f40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92a72e054c09" /><Relationship Type="http://schemas.openxmlformats.org/officeDocument/2006/relationships/hyperlink" Target="https://petrnikitin20.github.io/RL_education/" TargetMode="External" Id="R84d99af07e414b2d" /><Relationship Type="http://schemas.openxmlformats.org/officeDocument/2006/relationships/notesSlide" Target="/ppt/notesSlides/notesSlide24.xml" Id="Rb1e3d987c1c545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3bee625494112" /><Relationship Type="http://schemas.openxmlformats.org/officeDocument/2006/relationships/hyperlink" Target="https://petrnikitin20.github.io/RL_education/" TargetMode="External" Id="R6e3b9b9e7a994bb5" /><Relationship Type="http://schemas.openxmlformats.org/officeDocument/2006/relationships/notesSlide" Target="/ppt/notesSlides/notesSlide25.xml" Id="R77c9880890124e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23de303924fab" /><Relationship Type="http://schemas.openxmlformats.org/officeDocument/2006/relationships/hyperlink" Target="https://petrnikitin20.github.io/RL_education/" TargetMode="External" Id="R5e457041b4844709" /><Relationship Type="http://schemas.openxmlformats.org/officeDocument/2006/relationships/notesSlide" Target="/ppt/notesSlides/notesSlide26.xml" Id="R36486334199f41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5069281a544c1" /><Relationship Type="http://schemas.openxmlformats.org/officeDocument/2006/relationships/hyperlink" Target="https://petrnikitin20.github.io/RL_education/" TargetMode="External" Id="R9fefc802c9de49a2" /><Relationship Type="http://schemas.openxmlformats.org/officeDocument/2006/relationships/notesSlide" Target="/ppt/notesSlides/notesSlide27.xml" Id="R3e478b6f3fb446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72690873041fa" /><Relationship Type="http://schemas.openxmlformats.org/officeDocument/2006/relationships/hyperlink" Target="https://petrnikitin20.github.io/RL_education/" TargetMode="External" Id="R4c249fd38d694e8a" /><Relationship Type="http://schemas.openxmlformats.org/officeDocument/2006/relationships/notesSlide" Target="/ppt/notesSlides/notesSlide28.xml" Id="Rbcc2278d1e2b46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d5ee4e8224931" /><Relationship Type="http://schemas.openxmlformats.org/officeDocument/2006/relationships/hyperlink" Target="https://petrnikitin20.github.io/RL_education/" TargetMode="External" Id="R39df31d9067f4061" /><Relationship Type="http://schemas.openxmlformats.org/officeDocument/2006/relationships/notesSlide" Target="/ppt/notesSlides/notesSlide29.xml" Id="R43393b068a7348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6d8baf6694dda" /><Relationship Type="http://schemas.openxmlformats.org/officeDocument/2006/relationships/hyperlink" Target="https://petrnikitin20.github.io/RL_education/" TargetMode="External" Id="R0600364e249344b7" /><Relationship Type="http://schemas.openxmlformats.org/officeDocument/2006/relationships/notesSlide" Target="/ppt/notesSlides/notesSlide30.xml" Id="Rcd4aee206ee44e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a766be59c47e4" /><Relationship Type="http://schemas.openxmlformats.org/officeDocument/2006/relationships/hyperlink" Target="https://petrnikitin20.github.io/RL_education/" TargetMode="External" Id="R45ed3c5ef83a4df8" /><Relationship Type="http://schemas.openxmlformats.org/officeDocument/2006/relationships/notesSlide" Target="/ppt/notesSlides/notesSlide31.xml" Id="Rf36d0856210b49c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5c9fe9764f6d" /><Relationship Type="http://schemas.openxmlformats.org/officeDocument/2006/relationships/hyperlink" Target="https://petrnikitin20.github.io/RL_education/" TargetMode="External" Id="Rb42d88b39e59450c" /><Relationship Type="http://schemas.openxmlformats.org/officeDocument/2006/relationships/notesSlide" Target="/ppt/notesSlides/notesSlide32.xml" Id="Rbce36f9d1d9e4e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6ecd37fba45c9" /><Relationship Type="http://schemas.openxmlformats.org/officeDocument/2006/relationships/hyperlink" Target="https://petrnikitin20.github.io/RL_education/" TargetMode="External" Id="R4c54a3d09f944ff9" /><Relationship Type="http://schemas.openxmlformats.org/officeDocument/2006/relationships/notesSlide" Target="/ppt/notesSlides/notesSlide33.xml" Id="R9666398d09ef4c9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fbd8d2e04959" /><Relationship Type="http://schemas.openxmlformats.org/officeDocument/2006/relationships/hyperlink" Target="https://petrnikitin20.github.io/RL_education/" TargetMode="External" Id="R0c85243e32f14fda" /><Relationship Type="http://schemas.openxmlformats.org/officeDocument/2006/relationships/notesSlide" Target="/ppt/notesSlides/notesSlide34.xml" Id="R82bd560ccdac48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ed8598ac404f" /><Relationship Type="http://schemas.openxmlformats.org/officeDocument/2006/relationships/image" Target="/ppt/media/image4.png" Id="R07a12daacfd44c56" /><Relationship Type="http://schemas.openxmlformats.org/officeDocument/2006/relationships/hyperlink" Target="https://petrnikitin20.github.io/RL_education/" TargetMode="External" Id="R8a6149afdaf74331" /><Relationship Type="http://schemas.openxmlformats.org/officeDocument/2006/relationships/notesSlide" Target="/ppt/notesSlides/notesSlide35.xml" Id="R1bf2ee4d246b44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2e7957004e33" /><Relationship Type="http://schemas.openxmlformats.org/officeDocument/2006/relationships/hyperlink" Target="https://github.com/AI4Finance-Foundation/FinRL" TargetMode="External" Id="R640dad0954a542f5" /><Relationship Type="http://schemas.openxmlformats.org/officeDocument/2006/relationships/hyperlink" Target="https://petrnikitin20.github.io/RL_education/" TargetMode="External" Id="R03bfc879c60b4c4d" /><Relationship Type="http://schemas.openxmlformats.org/officeDocument/2006/relationships/notesSlide" Target="/ppt/notesSlides/notesSlide36.xml" Id="Rcf97b649fe9d481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b15ebb298478a" /><Relationship Type="http://schemas.openxmlformats.org/officeDocument/2006/relationships/hyperlink" Target="https://petrnikitin20.github.io/RL_education/" TargetMode="External" Id="Ra806cdbc39d0409c" /><Relationship Type="http://schemas.openxmlformats.org/officeDocument/2006/relationships/notesSlide" Target="/ppt/notesSlides/notesSlide37.xml" Id="Rfa6c5cb797ee412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559a138f24cd0" /><Relationship Type="http://schemas.openxmlformats.org/officeDocument/2006/relationships/hyperlink" Target="https://petrnikitin20.github.io/RL_education/" TargetMode="External" Id="R543f155374ac4d34" /><Relationship Type="http://schemas.openxmlformats.org/officeDocument/2006/relationships/notesSlide" Target="/ppt/notesSlides/notesSlide38.xml" Id="R9497cb8b1a2b4b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5e477cb9c4543" /><Relationship Type="http://schemas.openxmlformats.org/officeDocument/2006/relationships/hyperlink" Target="https://petrnikitin20.github.io/RL_education/" TargetMode="External" Id="Ra364e8c9536c43c0" /><Relationship Type="http://schemas.openxmlformats.org/officeDocument/2006/relationships/notesSlide" Target="/ppt/notesSlides/notesSlide39.xml" Id="Rc2166896b4dd471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158275d064f90" /><Relationship Type="http://schemas.openxmlformats.org/officeDocument/2006/relationships/hyperlink" Target="https://petrnikitin20.github.io/RL_education/" TargetMode="External" Id="Re3109acf9bd44818" /><Relationship Type="http://schemas.openxmlformats.org/officeDocument/2006/relationships/notesSlide" Target="/ppt/notesSlides/notesSlide40.xml" Id="R68b937f489a242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44b5400644f04" /><Relationship Type="http://schemas.openxmlformats.org/officeDocument/2006/relationships/hyperlink" Target="https://petrnikitin20.github.io/RL_education/" TargetMode="External" Id="R406b4efb222244fb" /><Relationship Type="http://schemas.openxmlformats.org/officeDocument/2006/relationships/notesSlide" Target="/ppt/notesSlides/notesSlide41.xml" Id="R620701ae166e41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267ce4c6845be" /><Relationship Type="http://schemas.openxmlformats.org/officeDocument/2006/relationships/image" Target="/ppt/media/image5.png" Id="R7b1e2a2c436b4b6a" /><Relationship Type="http://schemas.openxmlformats.org/officeDocument/2006/relationships/hyperlink" Target="https://petrnikitin20.github.io/RL_education/" TargetMode="External" Id="R86dd5242d01241a2" /><Relationship Type="http://schemas.openxmlformats.org/officeDocument/2006/relationships/notesSlide" Target="/ppt/notesSlides/notesSlide42.xml" Id="R609897d135dc496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5daf5d93344f0" /><Relationship Type="http://schemas.openxmlformats.org/officeDocument/2006/relationships/hyperlink" Target="https://petrnikitin20.github.io/RL_education/" TargetMode="External" Id="Re353874614f247a4" /><Relationship Type="http://schemas.openxmlformats.org/officeDocument/2006/relationships/notesSlide" Target="/ppt/notesSlides/notesSlide43.xml" Id="R7ae54c90adce420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4bc94092a4d36" /><Relationship Type="http://schemas.openxmlformats.org/officeDocument/2006/relationships/hyperlink" Target="https://petrnikitin20.github.io/RL_education/" TargetMode="External" Id="Rb77e7fcb9bf843f2" /><Relationship Type="http://schemas.openxmlformats.org/officeDocument/2006/relationships/notesSlide" Target="/ppt/notesSlides/notesSlide44.xml" Id="R3894fb3ca74e4a1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f1297233b4972" /><Relationship Type="http://schemas.openxmlformats.org/officeDocument/2006/relationships/hyperlink" Target="http://incompleteideas.net/book/the-book-2nd.html" TargetMode="External" Id="Rb26f6ff87e66493c" /><Relationship Type="http://schemas.openxmlformats.org/officeDocument/2006/relationships/hyperlink" Target="https://gymnasium.farama.org/main/api/env/" TargetMode="External" Id="Ra0421c2cd2b942bb" /><Relationship Type="http://schemas.openxmlformats.org/officeDocument/2006/relationships/hyperlink" Target="https://doi.org/10.1038/nature14236" TargetMode="External" Id="Rc5b8c691fbd5446b" /><Relationship Type="http://schemas.openxmlformats.org/officeDocument/2006/relationships/hyperlink" Target="https://doi.org/10.1609/aaai.v30i1.10295" TargetMode="External" Id="R30ee70ae805a4791" /><Relationship Type="http://schemas.openxmlformats.org/officeDocument/2006/relationships/hyperlink" Target="https://proceedings.mlr.press/v48/wangf16.html" TargetMode="External" Id="R105cf3620b6c420f" /><Relationship Type="http://schemas.openxmlformats.org/officeDocument/2006/relationships/hyperlink" Target="https://github.com/AI4Finance-Foundation/FinRL" TargetMode="External" Id="Rb08f919841f84dd7" /><Relationship Type="http://schemas.openxmlformats.org/officeDocument/2006/relationships/hyperlink" Target="https://pettingzoo.farama.org/" TargetMode="External" Id="R349a1437746444ec" /><Relationship Type="http://schemas.openxmlformats.org/officeDocument/2006/relationships/hyperlink" Target="https://proceedings.mlr.press/v80/rashid18a.html" TargetMode="External" Id="R9e1eda50613947f4" /><Relationship Type="http://schemas.openxmlformats.org/officeDocument/2006/relationships/hyperlink" Target="https://proceedings.neurips.cc/paper/2017/hash/68a9750337a418a86fe06c1991a1d64c-Abstract.html" TargetMode="External" Id="Rd49512d83ba349ad" /><Relationship Type="http://schemas.openxmlformats.org/officeDocument/2006/relationships/hyperlink" Target="https://arxiv.org/abs/2103.01955" TargetMode="External" Id="R93609caceafd4583" /><Relationship Type="http://schemas.openxmlformats.org/officeDocument/2006/relationships/hyperlink" Target="https://petrnikitin20.github.io/RL_education/" TargetMode="External" Id="R6585244e7c164791" /><Relationship Type="http://schemas.openxmlformats.org/officeDocument/2006/relationships/notesSlide" Target="/ppt/notesSlides/notesSlide45.xml" Id="R9ee8ceda8fa74a5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ε-greedy</c:v>
          </c:tx>
          <c:spPr>
            <a:ln xmlns:a="http://schemas.openxmlformats.org/drawingml/2006/main" w="28575">
              <a:solidFill>
                <a:srgbClr val="62E4FF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0.36</c:v>
                </c:pt>
                <c:pt idx="2">
                  <c:v>0.44</c:v>
                </c:pt>
                <c:pt idx="3">
                  <c:v>0.49</c:v>
                </c:pt>
                <c:pt idx="4">
                  <c:v>0.52</c:v>
                </c:pt>
                <c:pt idx="5">
                  <c:v>0.54</c:v>
                </c:pt>
              </c:numCache>
            </c:numRef>
          </c:val>
        </c:ser>
        <c:ser>
          <c:idx val="1"/>
          <c:order val="1"/>
          <c:tx>
            <c:v>UCB1</c:v>
          </c:tx>
          <c:spPr>
            <a:ln xmlns:a="http://schemas.openxmlformats.org/drawingml/2006/main" w="28575">
              <a:solidFill>
                <a:srgbClr val="B9F36B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0</c:v>
                </c:pt>
                <c:pt idx="1">
                  <c:v>0.31</c:v>
                </c:pt>
                <c:pt idx="2">
                  <c:v>0.46</c:v>
                </c:pt>
                <c:pt idx="3">
                  <c:v>0.54</c:v>
                </c:pt>
                <c:pt idx="4">
                  <c:v>0.58</c:v>
                </c:pt>
                <c:pt idx="5">
                  <c:v>0.6</c:v>
                </c:pt>
              </c:numCache>
            </c:numRef>
          </c:val>
        </c:ser>
        <c:ser>
          <c:idx val="2"/>
          <c:order val="2"/>
          <c:tx>
            <c:v>Thompson</c:v>
          </c:tx>
          <c:spPr>
            <a:ln xmlns:a="http://schemas.openxmlformats.org/drawingml/2006/main" w="28575">
              <a:solidFill>
                <a:srgbClr val="FFBD59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0</c:v>
                </c:pt>
                <c:pt idx="1">
                  <c:v>0.4</c:v>
                </c:pt>
                <c:pt idx="2">
                  <c:v>0.52</c:v>
                </c:pt>
                <c:pt idx="3">
                  <c:v>0.58</c:v>
                </c:pt>
                <c:pt idx="4">
                  <c:v>0.6</c:v>
                </c:pt>
                <c:pt idx="5">
                  <c:v>0.61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C5CFF-3BFE-4B5D-9ADC-E581A94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ПОДГОТОВКА К ЛАБОРАТОРНОЙ РАБОТЕ ПО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C4B2-3C74-440C-9D43-8805E09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572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 бандита и CEM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 Dueling Double DQN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 MARL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7B786-A680-469D-815D-33B21311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Формулы · модульный Python-код · разбор ошибок · четыре интерактивные веб-демонстрации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A199-4733-4226-8BD4-3F76FC73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0ba1e5565314817"/>
              </a:rPr>
              <a:t>petrnikitin20.github.io/RL_education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e59d1566e4e3d"/>
          <a:stretch xmlns:a="http://schemas.openxmlformats.org/drawingml/2006/main"/>
        </p:blipFill>
        <p:spPr>
          <a:xfrm xmlns:a="http://schemas.openxmlformats.org/drawingml/2006/main">
            <a:off x="6858000" y="1476375"/>
            <a:ext cx="4953000" cy="3095625"/>
          </a:xfrm>
          <a:prstGeom xmlns:a="http://schemas.openxmlformats.org/drawingml/2006/main" prst="roundRect">
            <a:avLst>
              <a:gd name="adj" fmla="val 52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F576-0259-4486-89F6-8EDC5CEC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Никитин Пётр Владимирович · кафедра искусственного интеллекта ФУ · 2026</a:t>
            </a:r>
          </a:p>
        </p:txBody>
      </p:sp>
    </p:spTree>
    <p:extLst>
      <p:ext uri="{BB962C8B-B14F-4D97-AF65-F5344CB8AC3E}">
        <p14:creationId xmlns:p14="http://schemas.microsoft.com/office/powerpoint/2010/main" val="809338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1CA32-DABF-40B9-A671-2DBDD9A1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A92EF-485A-4A84-9ADD-40F6A1B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4ABA9-4D43-473D-9DFE-1D31F98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студент должен уметь после занятия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B93D6-65BE-4439-9E14-68EC1231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повторять код, а объяснять причинно-следственную связь «среда → алгоритм → метрика».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1EB4-CA66-41DE-9A98-9359E857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2C3C0-2D83-4174-A5EA-7EB71B31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AD2E8-FDC9-4D5E-902A-B2EE24C6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Формализовать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E159-066A-4A19-8CEA-2B145CE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Определить состояния, действия, награду, терминальные условия и горизонт.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E7A3C-61DE-437E-BB0E-8AB7502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D5F6-FD68-46FC-AE42-BDFB8969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7571A-1AED-4F04-B24B-43A2A22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Реализовать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9F63C-7251-4053-8B91-0975E9BB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Разделить среду, агента, память, обучение, оценку и визуализацию по модулям.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7D1D-7547-4DB0-903B-8369A92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F4FF7-F1F3-4C3E-9CC8-4B6D49D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889E2-3706-4392-85DD-870E9C8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305F9-2452-4AE1-8832-71B35B68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Сравнить с baseline, провести несколько запусков и оценить устойчивость.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5E5C5-45D4-41D1-AA64-5E51D7A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6860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E0A4A-AEC6-4653-A1B5-FFC64525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343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FEE28-1D4B-4692-A557-ECC9BB3C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955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Защитить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C7463-88BA-4E0A-878B-F42279E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Показать гипотезу, абляцию, ограничения и воспроизводимую демонстрацию.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93F68-3089-467D-92B8-AD9318A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1123950"/>
          </a:xfrm>
          <a:prstGeom xmlns:a="http://schemas.openxmlformats.org/drawingml/2006/main" prst="roundRect">
            <a:avLst>
              <a:gd name="adj" fmla="val 678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41CB8-5481-4B3E-A721-9A23799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задача → эксперимент → данные → обучение → оценка → вывод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13FA8-178C-49E8-9C61-3963BEA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логика лабораторного отчёта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193C4-6EAA-4820-98F8-B009F93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17807c6d0e254bf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30196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CD185-AB5B-466F-9CEC-524F2796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2F59E-508B-4531-9FE0-0764B13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74C33-245B-4C9F-9375-C17CA613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Пять остановок: от решения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7E0FF-D42E-498E-9E7D-5D73D24F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Каждый следующий блок переиспользует идеи предыдущего.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FC7BF-0880-4F49-B86A-FCE3E08F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87510-FD9D-46E1-9D2D-917A3C8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C3E9F-B36A-44A7-9035-043327B6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Основы 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7A5F5-02F9-45B8-A7E2-3137AA0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MDP, политика, ценность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EA788-F442-4AC5-81A9-7856C28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CCE6F-3CE2-4488-AF2E-C0BD4DC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9EA06-6BBD-467B-88E7-8882773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84F3-2FC5-4C83-96AC-ADD16D1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Бандит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5A725-203F-4327-B1F9-D8CC3B33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explore vs exploit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5C613-6A75-4596-82D9-0BFC4D26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A4AD9-DB8D-41B1-AB8B-9E8547F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6A7DF-CADF-4065-8BEC-813417C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DAE66-5257-4732-9272-EA19D12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CEM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E5BF8-E81B-4A39-A81D-DE3B644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обучение на элите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6689D-18AF-4B3E-B645-0C2A5CD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5361B-F21A-4702-9E2D-2C8C236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ABC1B-E012-4E36-B76C-D2E5F5B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0AE20-ED0E-4F65-B372-E89A7D0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 / финансы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5F515-9072-4828-80CA-08C013B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аппроксимация 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5F095-3E7B-4613-82D1-75CB091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F7C0D-AA05-46F6-B002-8C843F37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1DF22-1F08-4956-B31A-BD6E6CC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70F5C-A4DC-4C32-8755-63C32FB0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CB56A-55FF-4B07-9A77-4684F7A3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кооперация агентов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10A96-30FF-4836-9A0D-5CC4D37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 каждом шаге: формула · модуль кода · типичная ошибка · демонстрация · метрика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04B83-650C-4575-A8DA-D0D6CAAF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7bb5721ba02454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3576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0E05-C21E-43C7-B426-B96E563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10852-7864-48EC-9B0A-BDD1238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DA1A4-140F-4F83-ACD7-C0F305A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Цикл обучения с подкреплением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C5EA-3013-421F-9106-23EA62B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Агент не получает правильный ответ — только последствия собственного действия.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BD63-3C08-4139-85DB-E2BD0625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476500" cy="14287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60383-7C6A-469D-8C6D-490A8363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АГЕНТ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политика πθ(a|s)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E073B-16FD-4B57-859E-2BFCC1F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76500" cy="14287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A869-D3C4-474E-852E-A069135E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динамика 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FACD7-5EDC-487F-9746-844C927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действие aₜ  ─────────────────────→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626A3-466B-4639-9DA1-7FA1828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←──────── наблюдение sₜ₊₁, награда rₜ₊₁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F8540-EDEA-4734-9B0E-D7009CC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38625"/>
            <a:ext cx="5429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E96B8-D8F4-4C6B-8E6E-C8C3448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529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maxπ  𝔼π[ Σₖ γᵏ rₜ₊ₖ₊₁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B8D8E-AA0D-4FCF-BE15-796B247E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053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оптимизируем не следующий шаг, а ожидаемый возврат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2DD78-5415-4DC6-BE18-D5C92A3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0bc2004e328443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31834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64E2B-215B-44A4-8D98-659FF5B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1942-FA68-4D43-ABA5-1E0716E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E0736-F875-461F-8111-EE83039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MDP: что именно мы моделируем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5FB6D-A62D-4A4F-8665-B36AA65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Марковское свойство: при известном текущем состоянии история не улучшает прогноз перехода.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E0E2D-560B-4F53-A9C7-875FA03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4229-0292-43E5-9208-A7FF32D6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8196B-5252-4A49-B643-7EDBB420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состояния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3AFF-D4DA-4CC5-B849-1E5E6BF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агент знает 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3B81D-DC91-4B6A-8E9F-5D08929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33D44-FF44-4352-8F39-F2F6455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82095-4761-4210-AF4F-183C152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955DC-8332-426B-8C85-FA03B5B2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агент может выбрать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CFE24-64EC-4A3B-B9E5-505A734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2FCA6-525B-4BA5-89B2-80AB9756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A6161-B846-4A7E-BEB3-9D0F066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переходы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593AD-BEEE-4976-AD52-D42FD5D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Как среда меняется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42DEF-086D-4625-A6B6-F7B6428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9884D-D114-46FB-BD81-886A122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0B961-321D-483B-B8DF-81EE452A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награда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F86C6-A7D9-4839-98DF-50CFF25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считается полезным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952BD-8259-4EC1-A3EB-5856789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1383B-48E7-4641-A6B0-167CD3E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7462F-3AAC-4A5E-8955-012530D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дисконт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A62FB-5974-4C06-8D23-372E24B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Насколько важен будущий результат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A3A8E-E90A-4D41-823D-A23DAE6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BC44D-55EC-443D-8892-5BD843A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67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 = ⟨S, A, P, R, γ⟩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9A484-8721-49D5-804A-1E51609C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435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для частично наблюдаемой среды используем наблюдение oₜ и внутреннее состояние/память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4B491-BC87-41AA-B154-81CBB50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1196b0ece7048a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21262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FF688-7F12-49BA-A873-4EEA02F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34AC9-C001-4851-975A-C9A2669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E46F-EDC1-449F-99DD-92844D30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Траектория, эпизод и возврат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6D4A3-C78A-476D-BE73-87D3514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Одна награда редко говорит, было ли действие действительно хорошим.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6661C-077C-4090-93C4-0AB470A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DBFAB-63E4-4700-9EF6-57DDA6F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τ = (s₀,a₀,r₁,s₁,a₁,r₂,…,s_T)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83477-CA6D-4165-8DD1-3433297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траектория взаимодействия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FD35F-D393-481F-BEFA-382D9074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9544A-331C-4557-B467-71A9A28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Gₜ = rₜ₊₁ + γrₜ₊₂ + γ²rₜ₊₃ +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07E16-4B3A-4442-8825-85E7E12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дисконтированный возврат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51DF5-7576-4AD7-BB5A-AB4C576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DCE0E-EE76-4B1F-B769-5475439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γ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984B5-E813-473B-B0C3-D2BDB27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Близорукость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BC6CD-DED8-4FE7-A7F4-0A3F9F9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Учитывается только ближайшая награда.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279E8-DC6B-4BBD-858B-BC5DC5E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B62BE-3277-4AF0-9BEB-7CB36900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 &lt; γ &lt;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E260F-E9C3-4391-BACB-8730276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Баланс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3D2B8-9514-49BE-B7E0-E17C3B52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Будущее важно, но вклад постепенно уменьшается.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79BBD-0A4A-42AF-A53B-668114C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E0088-0449-49A9-B8F2-28789F6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γ ≈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C7FF9-5440-4C8A-BEF7-211ABB06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Длинный горизонт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C2AE7-87E0-4590-955D-46254C2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Выше дисперсия и сложнее credit assignment.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9C2D3-6843-468A-803B-28F299CF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de349222c9034cfe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55319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5491F-7783-4550-8036-798B178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01FB6-A385-4A3D-8EEA-FAD8E7E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D1FE-06B5-4720-A014-57ADB4E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Политика и две функции ценности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4DFE3-B157-4A6E-BA82-99504C9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Политика отвечает «что делать», ценность — «насколько перспективно».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3FF2A-3E52-4BA5-AEF1-E142B59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CA171-0B78-4B9F-B77D-F3E43E53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ПОЛИТИКА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F3B39-7AA0-4767-B829-8116676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π(a|s)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5D0B-79FE-4E16-82E3-1ADE154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Распределение вероятностей действий в состоянии. Детерминированная политика возвращает одно действие; стохастическая — вероятности.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6B6E0-A1BF-4E39-B76D-CB576CAC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CE41C-4078-49DD-A522-2068CC8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E177E-340E-43F9-A8CA-0BDEF87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Vπ(s)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7930C-0690-4110-9C6E-B2BEA69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Ожидаемый возврат из состояния s при дальнейшем следовании политике 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D129A-933B-4A72-9FA7-C078CF9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AEDED-FFE4-42B3-AAE8-85DD2A48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ACTION-VALUE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389CF-7F34-43C6-9EB4-4A924BB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Qπ(s,a)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1A8C5-841B-43B9-9899-674F064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Ожидаемый возврат после действия a в состоянии s и дальнейшего следования 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EE10B-DCA7-4A0D-A385-F1D2766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809625"/>
          </a:xfrm>
          <a:prstGeom xmlns:a="http://schemas.openxmlformats.org/drawingml/2006/main" prst="roundRect">
            <a:avLst>
              <a:gd name="adj" fmla="val 9412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C6E33-E7E0-4CAE-BF2F-7D49638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017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π*(s) = argmaxₐ Q*(s,a)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1FF35-8D09-41B9-8789-442ECFD7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жадная политика по оптимальной Q-функции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3CF40-B226-4EB7-BA28-189AA88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bcfadb0b062413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48582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005B9-315E-4091-9E78-0FEA2C8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451C1-F522-4168-B945-25E9CBB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F26BB-9E74-497C-B4B6-DA1658B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Уравнение Беллмана: рекурсия будущего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95D3-271B-40AD-A5E1-273EA69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Ценность текущего решения = немедленная награда + дисконтированная ценность продолжения.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1106-D046-4D0F-AEAF-A39C079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0AAEE-29CA-4413-825B-D4BDC88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Q*(s,a) = 𝔼[r + γ maxₐ′ Q*(s′,a′) | s,a]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38AD3-10B9-410E-81E3-FE25116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оптимальное уравнение Беллмана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862C6-F678-4F90-90D7-E9239BB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2A26B-A382-4563-B534-638DB04C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Разбивает длинный горизонт на локальные обновления.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CEB9-55B3-482E-9CD1-CB20F555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1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F58EF-633B-474C-B52B-52577D70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3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Связывает обучение по отдельным переходам с глобальной целью.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B6D75-8B73-4965-A345-0E43589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9C357-D7BB-488E-AFEC-A98F1C9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1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Ошибка TD показывает, насколько текущая оценка противоречит новому опыту.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6F1B8-04E9-41D7-B5E0-41BE632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8191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1AE49-4EE9-4323-B111-98CE275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δₜ = rₜ₊₁ + γ maxₐ′Q(sₜ₊₁,a′) − Q(sₜ,aₜ)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DD3FC-DCF6-41EF-95B7-CDCF9CFF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00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temporal-difference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5EDBB-4C1E-4572-A494-D9CD1E8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132b583d94f44c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86806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1CDFF-DBC0-4761-B314-8D4906F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E84D1-3AF0-4A09-8A8D-DAB392A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C18D1-7000-4190-A05C-74E5FBD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Исследовать или использовать?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815B-3814-4E33-967F-6B16FB9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Без исследования агент может навсегда принять случайно удачное действие за лучшее.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9B01C-C09D-4744-A425-7234DFB7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7DE36-E14D-4120-9AAA-F811E4FB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EXPLORE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A17AF-EBFA-4F7A-AF05-9EABC5E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AAFCA-4B4B-4F0A-96BA-15A2FF4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Собирать информацию о неизвестных действиях. Больше разброс результата сейчас, меньше неопределённость позже.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3FB96-6171-4992-8628-4C532FA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1336B-0868-48E0-874B-AB799FA5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81225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EXPLOIT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27AD2-4E14-49E3-8E21-B7F63C3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Использование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F2896-E376-42C2-9F92-7E828D5B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Выбирать действие с максимальной текущей оценкой. Хорошо краткосрочно, но может закрепить ошибку.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C17E0-21B1-4564-BF2E-2374C5B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C0544-2CDC-48C5-B929-BF0B480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C0137-6C27-40BB-87D1-AA31CAA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Компромисс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5A192-B2D1-473C-BDCF-CC5F486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67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ε-decay, UCB, Thompson sampling, entropy bonus или intrinsic motivation.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807DB-9A1A-4510-BCF0-1748F8A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Главная диагностическая метрика: доля оптимальных действий и cumulative regret, а не только reward.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B4D3-D51D-4CF9-9FDD-D6C5527F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ca6eb0571a2415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67849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9C089-C26A-4632-BC75-9551105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2BEFB-6E68-4AF9-A362-D61A1F1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7148-B962-4DCE-8671-308FA7D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Контракт среды: reset →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E7E48-CFB4-46F1-B6E2-118FF1A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Gymnasium отделяет динамику задачи от алгоритма обучения.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91352-E33A-4DF8-923D-FB70B31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468D-DD07-4A7F-BD07-909D46F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obs, info = env.reset(seed=42)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for t in range(horizon):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action = agent.act(obs)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next_obs, reward, terminated, truncated, info = env.step(action)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agent.observe(obs, action, reward, next_obs, terminated)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obs = next_obs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if terminated or truncated: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82BCA-7906-4593-BBE5-5576375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03DDA-AA08-4A16-9563-85E1BF78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7A9A6-9DA0-479E-AF1A-A6430D7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4D72F-1AFF-4129-95E2-F03F49F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terminated означает естественный конец задачи; truncated — внешний лимит времени. Для bootstrap это разные случаи.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8834-D431-4971-95E5-9ED30A9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F6883-EC2C-4F8A-823D-5FA341EC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3B26B-A3FD-4941-8C1E-04C39E49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561C0-39BB-4C91-A1A0-4D583D8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action. Выход: observation, reward, terminated, truncated, info.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E73FC-8D2A-43AC-8B9D-E9AB3FE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fc55585dd974d7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01776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AFBAC-2A64-4BED-852D-6B97B9C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F231A-BD0F-4EEF-9FB7-4963C84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2A3F-42D0-4192-9AB9-95AE331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Многорукий бандит: RL без состояния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8A80-F805-492D-9DAD-7C309AF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Каждый автомат имеет неизвестное распределение награды; переходов между состояниями нет.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76450-A676-4517-A4CB-8FF36FA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C4FF-92D1-4B06-8D86-142A200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72D99-69DE-4FD9-A3B1-8E43AB8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4F0E6-6F72-43D1-A687-1EBABD1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0567-5ABB-47DE-B8E5-B1537F6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20DFA-A819-42CD-A464-1D913A2F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F068B-0D37-4F6F-9163-B9F8D8D3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D2F64-4347-4823-9E20-E43881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8390F-9A9F-47CC-99E4-373FCC0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CBEAB-06A7-4DE7-9335-C35DB67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ARM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5E17-A520-4FE7-982E-CF1565C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0.62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BE0F-A1F4-4197-A5E7-754CF969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52CD-34F9-43A6-8362-2102085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87685-E1B4-48C0-9787-B238249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52907-48A1-491F-B641-B7B01D0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A401B-BD81-4DAB-8DCA-0DE3AB77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2ECBB-68D8-45BB-9ED0-805FF4F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8FD90-A4C8-484A-BFD3-B45FDDEC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Regret(T) = T·μ* − Σₜ μ(aₜ)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394DA-FE03-4947-9CB6-87BCC0E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плата за выбор неоптимальных действий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8A12F-7A9E-4AF3-9A90-1E4746A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cbbc4f15df2e438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38105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8EFB6-D23A-490E-933C-4C823622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16CD-B252-4432-96B3-8F0520B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54570-19CB-45E0-93E0-191AF2C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Три стратегии — три представления неопределённости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225B3-3E2C-4951-A640-14463CA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Нет универсально лучшей стратегии: сравнивайте при одинаковом seed-наборе и горизонте.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9A49A-915B-4B0B-8DA8-2AC34AC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75B3E-3915-4353-B66F-A27868C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ε-GREEDY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8A5F7-6C76-4BF8-AAA9-84683190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Простой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A1BC5-40C9-4AF5-8593-5485350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 вероятностью ε — случайное действие; иначе argmax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прозрачно.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исследует явно плохие руки одинаково часто.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A40C1-D8E9-47FC-8432-301C18CC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CFB22-D3B3-4409-9376-0C5CBFE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UCB1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9B4E4-9B0D-4FB1-82C3-ADD0916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Оптимизм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2C3B7-23C5-41E1-92A7-24FB6A3F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Q(a) + c√(ln t / N(a)).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исследование направлено на редкие действия.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требует предположений о стационарности.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A8FBA-16A8-4398-A0D4-149573C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AEBBE-2B64-487D-8D91-12B0369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THOMPSON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937E4-364E-436B-9CE6-156821A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Байесовский выбор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7B790-B998-4D4D-B3E7-52AE4AD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Сэмплирует вероятность успеха из Beta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естественно учитывает неопределённость.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нужен подходящий prior/likelihood.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574E8-F1DC-4D2F-9896-A6B5894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c759bef87fe405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17154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97350-F226-4637-BB1F-4CC2539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D48B3-FE21-4A8A-9E83-6DAA122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89BF3-7FDA-42E9-9570-3174685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ε-greedy: два метода, которые нужно понимать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E03ED-D6B8-47E9-A7DA-49C4A825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Оценка Q(a) — онлайн-среднее наблюдаемых наград.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96D2-20FA-4D0B-8F74-43EADEE2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726C-320D-4622-82C7-531058A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select_action(self):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if self.rng.random() &lt; self.epsilon: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return self.rng.integers(self.n_arms)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return int(np.argmax(self.q))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update(self, action, reward):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self.n[action] +=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self.q[action] += (reward - self.q[action]) / self.n[action]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FE57A-3866-4A57-9DCC-86CF68F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4F790-8573-40A7-A0BC-F0FA9249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51A4-F79F-45F5-A5F9-8C89D3E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6354E-BDF7-44C1-BDE5-5B838A6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Первое ветвление реализует исследование; второе — использование. Обновление не хранит всю историю: достаточно счётчика N(a) и оценки Q(a).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9D864-B2CF-4F1A-83B4-1878C13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2B577-F89A-4276-A249-7EEE5BE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0D19-66A4-4076-B12B-6BA6595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2E670-1B67-4483-AF6B-E468663F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индекс действия и reward. Выход: обновлённая оценка Q(a). Файл python/bandit/agents.py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F5BD7-6006-4B96-BB19-50585ED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1f68af0680040f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78142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D7A2D-D863-429A-BF6E-B470F89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4E88D-ABBC-40A6-B279-DC3A49FE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4615-74EB-47E1-8F01-06B7823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накопление знания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4B57D-6C14-4D6C-AD25-741F739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Меняйте вероятности, стратегию и ε. Наблюдайте, когда оценка лучшего автомата стабилизируется.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2f8e327c44d45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11C4-7914-428C-B69C-B0C4C96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E8C30-05CC-4056-B10D-2F72F9E7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27047-E9AF-472F-9DCB-7195313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556AE-E4F1-4D67-9897-A3EAF07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+200 шагов при ε=0.10.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Снизить ε до 0.01.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Переставить лучшую вероятность.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Сравнить скорость адаптации и regret.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62FCB-EDA5-4A69-9FF2-B5630D3A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355CD-C5B9-4258-93D8-90416E2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491DF-A9B5-4B76-A87D-6D0DAD7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CD8B0-C93E-4EF5-B0B3-444372B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ED636-1ACA-40CA-98B9-B58D7D97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ee73dd887af434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49832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BE297-20A5-4785-8E71-7C1A17FE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67A60-3D67-4A1F-A46C-95D2F5A2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56F3B-C04A-4C71-9366-7D9A185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Эксперимент бандита: минимальный честный протокол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48942-553B-4CC4-9551-4122F02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красивый запуск ничего не доказывает.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0AE1-9246-46ED-A273-AD21582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A0C75-40E7-4077-AF0B-0FC37DE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Фиксировать набор истинных вероятностей и горизонт 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C31CE-81AF-4238-95A9-0D93A2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93FF-45F7-47FF-96DF-F291F87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Запустить каждую стратегию на 30–100 одинаковых seed.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15E31-8029-4643-85A0-7B280A3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8E26-76DB-40FC-B882-E80F302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Считать mean reward, cumulative regret и долю оптимальных действий.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644E0-7CBC-4030-9566-5819ED3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0E444-571B-4BEE-AE73-82436D6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Показать среднюю кривую и 95% доверительный интервал.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CFE33-779F-4957-8301-ECCC43E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8004-3D3F-43B7-839F-CD8B2B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Проверить нестационарный сценарий: лучшая рука меняется в середине.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096250" y="2000250"/>
          <a:ext xmlns:a="http://schemas.openxmlformats.org/drawingml/2006/main" cx="352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df529b942546e8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68CE-EAEB-4679-BDD0-A3674826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Иллюстративные 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5B52B-1446-4B1C-AB50-B67B52DE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f8345e6e4e0848a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222056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7E46-9760-4514-B8DB-AD97882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03249-473D-4479-A211-C9E0C2F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16B24-3CCD-4B75-A42F-FB3C787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Cross-Entropy Method: учимся на лучших траекториях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5F588-8A36-4CF7-9A2A-C2FF0C0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CEM превращает задачу RL в повторяющееся обучение с учителем на элитной выборке.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5769A-671B-4CE4-94E9-7CE41D1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8D343-46E4-41FD-8E55-588B921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θₖ₊₁ = argmaxθ  Σ_{τ ∈ elite} Σₜ log πθ(aₜ|sₜ)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D8756-242C-4A0B-8600-13B425D7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максимизация правдоподобия действий элитных эпизодов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918A-471E-4CFE-B85B-C3B0D71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7CD54-649D-435C-8BCB-B1F9D0FD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СЭМПЛИРОВАТЬ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231EA-A735-4C37-A1E1-3BC274D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N эпизодов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55AC6-4858-4563-8CC3-BB863A8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Собрать траектории текущей политикой.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57341-848F-42EE-B74F-7208D503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5F55B-A252-4E1D-9750-DD26737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ОТОБРАТЬ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C4839-6A02-4301-A7DA-1B53347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верхний q%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EF562-F4A9-4185-9BB3-E0369492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Порог — квантиль суммарной награды.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8C1A1-464E-49E1-831F-BE552F9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B77B-8C17-42B5-A546-153118E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ПЕРЕОБУЧИТЬ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6BBB6-42AC-493D-BEB0-4F5F4C4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πθ на элите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586A0-8B48-4546-926C-34442D9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Состояния — X, действия — 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7E687-BD9E-4E55-A0BD-7434641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3eba54f6bbd4c8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22632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BAAB2-402A-4AA2-971F-52A445F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264FA-6266-49B5-A17A-642A57D6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C7925-BE49-4032-AF79-E68A663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Алгоритм CEM: одна итерация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6346D-4422-4693-9366-C4782F0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Порог должен быть строгим, но не настолько, чтобы элита оказалась пустой.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6215-8AA2-464F-A0BE-92F794A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C159B-DF89-4DE1-98C5-5AF54AC8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5846-AFEE-4E70-AA4F-8B36A91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1. Сгенерировать batch эпизодов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2AD68-0343-4954-9767-021D0FE0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Начинаем со стохастической политики.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E390B-8DF3-4E23-9537-8F782BB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662CC-BB8D-452A-92F1-E899FD5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B0880-8FED-4474-8229-B7B2A89D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2. Посчитать return каждого эпизода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5FA2-3735-4DCD-8BFB-3CC807A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0218F-D533-4617-A8DF-6E9260E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B7A3D-CB06-4DE3-B20A-29C146A3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64181-68E6-43AD-9FBD-08C9E763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3. Найти γq = percentile(returns, q)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EEF02-DCBD-46DD-851B-B372E61B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0FB22-CB8C-4E0D-8D13-67417F00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34212-F336-4C3E-8D96-B1474BA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378D2-CC14-40A2-B4DC-182C35D5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4. Отобрать return ≥ γq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DF8A9-4B81-4131-AB22-AE472BF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6313E-5C50-43D5-8A25-16C5CE06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8E4AB-6AAD-4B3C-8DB4-D19F79BA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A6C24-B51F-4F56-9333-B21607A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5. Обучить политику на (state, action)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4D3A4-AF89-4C88-8360-1AA12FF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FB8ED-0076-4A68-83D0-9448CA5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F7FDE-56E9-4F1A-8A13-295D8A6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6D8E9-D369-496E-B739-7B9B0465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6. Повторить до стабилизации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E84B7-6ADE-4E09-8169-B24D60F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Следим за успехом и длиной маршрута.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626C9-D9AE-4545-9D2E-29FEDCF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7c3835037e84deb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85922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B88F5E-5E99-4260-88A2-04AE26F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F2CEA-8B6F-4A86-9335-51856CD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C9E9F-C272-4F29-83D3-8F35C37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 «собака–кость»: формализация лабораторной №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4DADF-95C2-4BD8-9A36-D299D73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Цель — дойти до кости; качество решения зависит от того, что именно названо состоянием и наградой.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B73A-D74C-4B90-9458-CFCC586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310C9-CE52-4004-96CD-40A120A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5DEF-4EBC-458A-A3DD-FA3AA93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98489-8A24-4C92-9DB2-5E0140C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C0E67-FD29-4E11-9FFD-E6287CD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49B76-8204-45A6-B30A-1F929A3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9A4E1-0F26-4126-9575-BF94B7C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C055D-1D76-4343-A915-B780F16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0B0DA-820A-47C9-A271-17A78F2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86837-B4D3-4E55-9D8B-86E0CB4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F0C56-F7A1-4D79-9AB4-0AF476C6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A4989-1D31-4AE8-BC38-F587317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AD698-DF17-4A27-9AEC-E97EED3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8D587-7B8C-44C3-A719-49B28F5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15122-EA11-4D27-9EF6-6F68074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773A6-5C6F-4F9D-9A90-85155A5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9649C-664A-460C-B462-358D0DB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D5C4B-D302-4F40-A1C4-49A9BAB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1655A-4EC5-48F3-939F-6E67D46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45088-0F82-475A-86CE-2F39F808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E438C-E28F-451C-A7E0-6707A91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ED58F-E483-43B0-A4ED-3E107F1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D26B0-578D-42E1-B8AC-4F814103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29EE4-68A1-442B-9E32-B944CCC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F76DF-E10B-4F17-84BA-1971E3D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AF056-0DDC-4A69-97F3-CCF570D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E5DC5-E4EA-45DB-8851-D5C5163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17F8F-EBF3-4253-A9B6-400A5D3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EA88C-426A-4D31-B1FE-81F8761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CB5B1-53B9-4001-94CD-22BE07A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FFBEC1-C7B6-4A7D-B459-84135D3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44E0D-FDFF-44D5-B6DE-88CA0FA9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BE768-B18B-4209-94E2-56D2134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B34CB2-2ABF-49F4-8618-406013C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FE10C-96E5-4CB3-B4F1-828EBF29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E2E5B0-288A-4456-AFA5-B6F5AE4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BF5F8-4FBD-4780-8AA0-4BCC489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46796-354D-45B4-9F39-F883B77C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8EB95-92F7-430E-8DAF-250DC53D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1ACD1E-B430-4CCC-8995-AFED95C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2E096-7CFE-469A-98ED-0B861FE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3CF5C-7E94-4618-9F92-C332C58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1512FF-D711-4BD4-A8A3-5E3129A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07DB8-AD22-447B-B3D2-ED2AADA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35B9C-1FBA-4CE6-8617-91A1556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A4E882-D5D4-48AE-95B2-9A704B45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D1C879-3D82-43BE-85D2-DAC226A1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739F9A-FE83-4000-B53E-C60A56D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ED4166-5540-4FF9-83F9-E5E2ADB5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416B65-FEA3-4870-B82C-6C05D86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E1E0FF-6A87-4845-9BD9-D4D528B4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BE3BDF-EFAD-4EB7-A3EF-755194F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922FA3-A043-4FFC-AE4F-236ED0C2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5540CA-3C06-467F-B2A0-63C5014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56CF0A-06D7-4F71-867B-D109B7A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22E1DA-3452-4442-ABB7-A696F63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0C506B-C0A6-4F69-8F98-DDBDABF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51174F-D8F9-4C61-83BE-7F9DCC6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0B245B-A570-4FF5-AF64-8573769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200335-B8A8-4B7C-B7EA-FC7FDC41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B530BE-9987-4080-A766-A8A2BDB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5E6901-9434-4E88-B6D7-17041CD5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B1B3DF-AB6F-45F9-A008-7E58B7F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E44487-1A86-482A-95EA-D077FE9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69EF46-F068-4A3C-8BFC-EF55B9B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2C5F56-08D0-4F9C-8070-814A73C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81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CEB68C-4FD8-4CD2-93E0-6DC8C79B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F215F7-8C00-4B17-990F-42876B39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85975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5F7C48-7DAA-4943-8CFE-99912AF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Δx, Δy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68A83D-7C54-43F2-8D3E-F222C7A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Относительное смещение до цели лучше абсолютных координат переносится на другой размер поля.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3CF969-D48D-4C7D-889F-C614AD3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C7BF98-AFD9-4C75-9612-818B0E7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85975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DDDE31-F4A4-4ABE-A5FE-48CC50E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↑ ↓ ← →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36771C-3E0A-4067-AB33-525C253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Дискретное пространство действий. Границы обрабатываются средой.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86A1C2-83BD-45DB-8E26-BC57CAD3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94326D-5E65-487F-BC5E-98EE025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REWARD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1EA021-6183-438C-91B2-B783470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95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+1 и −0.02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8CA3C5-9288-44F9-AA5D-59D1D60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95825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Награда за цель и небольшой штраф за каждый шаг.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48A456-C1AE-4572-81E4-F6979D6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1A6D94-F893-4221-9622-09E4FB42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END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9BE3DF-5BE4-4432-A588-F1E1DC3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95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goal / timeout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E75ADF-D3A3-4B52-B64C-B6FC23D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95825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terminated при кости; truncated при лимите шагов.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0E8829-941A-4730-B854-A9B5BCF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664a2c9bb42444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051602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6E92-F565-45DC-9D41-DFD42EA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A30DE-5E52-4927-A9ED-29F8AEE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D814-AF85-4D96-8F40-533991C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Reward shaping: как агент «ломает» замысел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4C025-6CD5-409D-9E6C-419A5E8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Поведение оптимизирует формальную награду, а не смысл, который преподаватель держит в голове.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01DD5-B0A6-4BC2-A6CB-A2F5833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40C84-7C4D-4D90-B9EE-086225D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ОШИБКА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4FDA-B8B0-4856-893A-74EF274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Награда только за 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542AE-71C0-4989-9CCD-0DF8056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Слишком редкий сигнал: успешные эпизоды почти не встречаются, CEM нечему обучаться.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2B75C-78A6-4468-A11A-F74DD31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67F2C-5B47-4CEC-82CC-D7E4CD73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ОШИБКА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57EB-21EC-42C0-8585-744610B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Бонус за приближение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AD014-F995-40E4-8FAD-65A5F4F4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Агент может колебаться рядом с целью или эксплуатировать неучтённый переход.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90F78-1B78-4542-A4B1-8DD22D4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5341A-7F3A-4DE0-B4B5-B27B44C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РАБОЧИЙ ВАРИАНТ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225D8-C7B8-4EEA-9428-4BA7C0B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860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Цель + цена времени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35E45-F2E7-439B-9B42-4EC59E5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3067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+1 за достижение, небольшой штраф за шаг, лимит горизонта, тесты на границы.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ADA62-5A83-4D4E-B52B-979B2A5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После изменения reward повторно проверьте: оптимальная политика действительно совпадает с желаемым поведением?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F2F10-5CE7-46F4-911D-D07CEE4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cb57e0c09ae245e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770227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47E1E-9E00-4D24-89F0-6EACD25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B60D2-FB50-47D8-89D1-E3FB013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D6278-C393-4D9E-B8E9-CC8BA9DB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 как отдельный модуль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BD980-C0B4-41B3-8FC1-011B7A0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Вся постановка задачи сосредоточена в env.py — алгоритм не знает правил сетки.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689C7-883B-4C14-981F-8D9FD64C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1C32C-ACAF-456D-B54E-5A26552F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step(self, action):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self.dog = np.clip(self.dog + self.moves[action], 0, self.size - 1)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self.steps +=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terminated = np.array_equal(self.dog, self.bone)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truncated = self.steps &gt;= self.max_steps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reward = 1.0 if terminated else self.step_penalty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return self._obs(), reward, terminated, truncated, 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1C11E-685B-4E46-B073-1003A94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C8F01-EF8C-4E21-A106-EA40AE7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A95C-D45D-4A51-9898-DE8F658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6738F-2998-4108-9F7B-FAB386A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np.clip реализует границы. terminated и truncated разделены. Наблюдение возвращает относительный вектор до цели.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F4F45-B940-4648-8275-A95D7461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BE36C-28A6-426D-B24F-F2E97A4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15FDA-EAD4-4DFF-B9FD-78B90AA8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31988-27B0-44B9-A506-571B07FA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action ∈ {0,1,2,3}. Выход: новое наблюдение и сигнал завершения. Файл python/cem_dog_bone/env.py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72CDF-0748-4B69-B806-F656C4E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2622737db3e5419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176853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91C6E-401B-4609-A2F0-C434BB5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8D5C6-4970-4DDC-88CB-DFB627C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E1E6-D2BD-437B-B46C-1837E56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Обучение на элитных эпизодах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22C2F-E16B-47DC-9CD2-80DBAE13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Ключевой переход: траектории превращаются в размеченную выборку.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9CF2-3BD8-4FD9-BF7E-14083DB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CB764-80EA-4954-A684-EEFE74AF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sessions = [generate_session(env, policy)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   for _ in range(batch_size)]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threshold = np.percentile(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[s.reward for s in sessions], percentile)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elite = [s for s in sessions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if s.reward &gt;= threshold]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X = np.concatenate([s.states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y = np.concatenate([s.actions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policy.fit(X, 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A63F-B90F-47EC-BE7D-DE5EB90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DEE96-6970-4FF3-95F0-955438B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7C547-0014-4578-A74D-5342B2B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4DDE2-FC0B-4D1D-9EEF-AB4C211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X содержит состояния, y — действия, которые привели к высоким return. Если элита пуста или однообразна, обновление политики нестабильно.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442F7-8860-4C61-B74C-DFA239C6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BD5AF-C563-4619-9C10-2352F76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7D55-E57B-44B3-82B1-C4B2378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1B679-E1A7-4E01-885B-0A00C078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batch sessions. Выход: новая политика и статистики threshold / mean reward / elite count.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B8194-DA4E-4742-8C1D-5BCF60A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ee38b86538b4156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408520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33E0F-376F-4555-A8AC-A318F2A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59E0-05C5-4D02-8F11-5551C31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D8383-533F-42AB-A97D-FF1640C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обучение собаки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E127-F9C3-4023-94F3-563825C7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Запустите 10 итераций, затем покажите жадную траекторию обученной политики.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7178cbd6e4d2f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19200-7B85-4755-8318-5CB038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3A239-C582-4660-B1E7-C65D5E6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7D594-AF4B-4F5F-B532-46CD8D6C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E3D33-4701-4D99-9F4C-24C85BD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Поле 9×9, q=75%.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Обучить ×10.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Сравнить success rate и длину.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Убрать штраф за шаг.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5) Объяснить, почему путь становится длиннее.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4B8F8-26A0-4759-97E9-AC95C67A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92D6B-09F4-4057-BE1C-4EA4EFA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B6F95-18F2-440D-A876-A10CD2C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87231-2B97-4EE9-BB73-EA61113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14B6C-F282-482B-9B95-E8C053E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c8ec51ea72c47d0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08050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9CB1-850F-445B-88FA-F0126E3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B601-F91A-41B7-A8B1-B0DFE4A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7A46F-6CB8-4476-92DB-9B66762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сдаётся по лабораторной №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552C1-0966-46A6-94F0-8AA80A4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Защита — это проверка исследовательского рассуждения, а не демонстрация единственного удачного запуска.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4163-88AE-4191-8D9C-159886D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32BBB-782B-4D28-B45C-7091234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Формализация MDP и аргументация признаков состояния.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941F-20C8-4A3C-8E32-651C715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FA4E-3941-4BFE-BBE7-00493C7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Схема модулей: env.py, policy.py, train.py, evaluate.py, demo.py.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8406B-67E4-417A-8AF1-2BA8592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3C2F9-3986-4691-AD7B-C414ACD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Кривые mean return, success rate, elite threshold, episode length.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EF5E-7FC2-499F-9ED3-811342A6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45AB-FCF8-40D6-81DE-5577DD6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Абляция: percentile, batch size, step penalty, представление состояния.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AF0D4-B5A9-4379-A24B-A8E3929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7964C-1498-4393-B96F-9F724CD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Не менее 10 random seed и доверительный интервал.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16D6F-8160-4271-9A53-3C27F755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0B3F3-B498-47C7-93C6-C8699AA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Разбор хотя бы одного неудачного поведения и его причины.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8AB5F-F3B7-45C0-95A6-C6651191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16ED7-3F24-4A7E-8C92-EDC4766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85975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MINIMUM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6EB11-3063-4721-A3D5-D6E17223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BAEA0-2B47-412C-9A08-457F481A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705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requirements.txt, seed, команда запуска, сохранённые параметры.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03C13-72E4-49E0-A1CD-4AC89965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0E14D-5A6D-4A73-845A-7B54EF8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90975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BONUS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BA9E9-3256-4F78-9951-F551E43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Обобщение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FF6FC-A753-4974-BB2D-5BBA70F0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705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политику на большем поле или другой позиции цели без дообучения.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50553-3545-48F8-9242-D745ABB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1fe0d9a75c844e2e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68193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9AC9D-4505-4904-9596-DF457F4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Q-LEARNING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5E88B-2045-4C08-B687-F4831B53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50266-4AD6-4C36-9782-61D35395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Q-learning: обновляем оценку одного перехода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1B946-7057-44C7-8E3C-D6249A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Алгоритм off-policy: цель использует жадное действие, даже если поведение было ε-greedy.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9400E-E889-4D14-981B-8DE73FD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BA2B-4924-43CE-AB74-3833887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Q(s,a) ← Q(s,a) + α [ r + γ maxₐ′Q(s′,a′) − Q(s,a)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7B9EB-D27D-450C-9F84-267BF09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табличное TD-обновление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9DEB-7C8E-4C95-ABF6-A5B05DE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5B6D-CE44-496D-B189-3C07C16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EB293-66E8-4CA4-B8AA-B45D1AF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1CA82-B323-4632-8DA0-472FD508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Скорость замены старой оценки новым опытом.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C425C-393D-4C66-BA15-616C2953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486A5-DFC5-475E-AC74-DC30D5E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B43CE-FF4D-4774-B810-6A2FE91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discount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FA18-4F9C-48C7-A910-232E8B6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Вес будущей ценности.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A8C0F-0B38-451C-9574-1CE1CA6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1DE75-562E-40F7-A106-8219CF5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B4236-B6C2-401E-9622-AFEEC638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exploration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E2143-FEA9-409D-A30E-9FAF7F8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Вероятность случайного действия.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B6E9B-0BC2-4D37-AF53-5F8CE36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B6430-BB70-4A03-8012-0EC4599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8A01D-0230-46DE-8B3E-3F9C094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TD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29B21-5BDC-4D5E-AAC3-78032B1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Сигнал направления обновления.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7770E-84EC-4300-A6BF-AEAA3D0D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4d99af07e414b2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67254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B1165-5DDC-40FD-86AF-3E18FF4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Q-LEARNING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5755-03AF-4046-93A7-BD3BFF6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8151A-670C-4085-9484-CF1CBDE0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Табличный шаг Q-learning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99472-6C97-400D-873E-CB7A25ED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Обратите внимание: timeout не всегда обнуляет bootstrap, а terminal — обнуляет.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F35E6-7D55-4399-A27E-C359DC8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62DA3-1C9F-496F-A611-F952071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action = epsilon_greedy(Q[state], epsilon)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next_state, reward, terminated, truncated, _ = env.step(action)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best_next = np.max(Q[next_state])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target = reward + gamma * (1 - terminated) * best_next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Q[state, action] += alpha * (target - Q[state, action])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D5ABA-A969-4DE3-B385-F64CF600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5FCF-561E-4D17-976D-BC96C4A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9F59F-B15D-454D-87B5-320A4BD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49C5F-C404-437F-82AB-B7652B2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поведения и TD-target разделены: это делает Q-learning off-policy. Таблица возможна только при небольшом дискретном пространстве состояний.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82934-110B-4C18-8A5B-FC172C4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968D9-6A27-4A53-A1C4-F59C50FB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0AED6-962D-464F-8C57-A3F3296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98372-2347-4134-AE93-C8069DB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один transition. Выход: изменяется ровно одна ячейка Q[state, action].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CE614-F7D5-4371-AAE4-5EF4993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e3b9b9e7a994bb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417273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08C0F-2872-430D-B419-1F05F0E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83EF5-1EAF-4469-88FE-0C115B0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C72DC-C096-4C9F-AEC8-1A1E4CF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Когда таблица Q перестаёт работать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232C-6F48-4A58-A3FE-361B7BA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Изображения, временные ряды и портфельные признаки создают практически непрерывное пространство состояний.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043B8-3EAC-4843-BB40-A6ECC7C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7A8DB-F57B-4095-82B8-06C84D4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990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ТАБЛИЦА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0B81-2CFD-4D81-B686-42F424A1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Q[s,a]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AB25E-ABA8-4424-9F68-0DD6F264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990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Точное хранение. Интерпретируемо.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Но число строк растёт экспоненциально и нет обобщения на невиданные состояния.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2BE7B-7C5D-43E6-8BE5-B86C8A5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0711-27CB-4C59-AFB9-89338F60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73C81-B227-4B8C-AF15-2AB0C32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81225"/>
            <a:ext cx="2990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НЕЙРОСЕТЬ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F0D7B-6489-4219-8AF9-49DD1FA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Qθ(s,a)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EBBC8-E0F6-48DE-9D32-162C382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990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Аппроксимация общих закономерностей.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Нужны стабилизаторы: replay buffer, target network, нормализация, clipping.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69714-ECE7-47E5-8EFC-E2E3E4B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ACCE-A531-461C-9158-F769D4E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47875"/>
            <a:ext cx="3028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A47D0-7473-4AF2-BBE9-D9C4DD0E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2686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ПОЛИТИКА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FFCDF-74D6-451C-BE52-41B7227E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38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argmaxₐ Qθ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A0784-E4CE-4A48-BC90-6ACC89F4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686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Сеть выдаёт Q всех действий; агент выбирает жадно или ε-greedy.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4B3E3-8EDA-4387-802C-CDF7C09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5e457041b484470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443090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C75A4-1404-4F77-8054-33F66A66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08442-138A-4285-B104-4894CC96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4F37-DCDF-49FE-A0D5-5462E6CC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DQN: четыре детали, без которых обучение нестабильно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3AB4-76FB-4DEF-BCDC-5403D8E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DQN — не просто «заменили таблицу нейросетью».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18818-168C-4C93-8D05-4664149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DD079-2047-4045-BF1E-D0C80DD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9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ONLINE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CBE08-D982-49F2-A661-CAFC509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Qθ(s,a)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D693-150E-4EE4-962F-A399823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99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Обучаемая сеть оценивает действия для текущего состояния.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78B12-D2C8-4722-ADBE-60E980A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7A0B-FA05-4B86-8E10-70A61AF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 · REPLAY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18EE8-D1F4-45F6-9D1D-A1ECFA2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(s,a,r,s′,done)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52DC-5A77-4A59-85F6-03F78CE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5575"/>
            <a:ext cx="4972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Случайные mini-batch разрушают временную корреляцию опыта.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11CE1-2DED-4CF6-9E3E-B3CC0DC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1CFA5-397E-41DA-8334-1B98A02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9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 · TARGET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91F20-5DD9-4C6A-BC98-6321115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Qθ⁻(s′,a′)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81704-5A35-4DF9-A25D-C593CA5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99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Замороженная копия формирует медленно меняющуюся цель.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0C885-81E8-401D-ACFA-29DB829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B22F9-F063-442C-9F05-8BD0FF4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 · LOSS / CLIPPING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ADFBA-5C38-4935-B8AB-487D88F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9102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Huber + grad clip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FE4C2-C991-4F9F-8C53-86B7FE6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91075"/>
            <a:ext cx="4972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Снижает влияние выбросов TD error и взрыв градиента.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D1FE7-AD36-471F-97CB-2E8D2D4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fefc802c9de49a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717637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DC4C2-DF8F-4862-97FE-314D991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94ECA-CA79-4580-A2DE-319DCEB5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F48A0-0E2C-4233-B29C-61A44475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DQN: из replay-buffer в gradient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365C3-1EF2-432A-B959-977851CC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Target-сеть участвует в вычислении цели, но не получает градиент.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4F10B-9649-4C12-B377-B399452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B6C3-E0C6-4628-8CE6-7093BBF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batch = replay.sample(batch_size)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 = online(batch.state).gather(1, batch.action)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next_q = target(batch.next_state).max(1, keepdim=True).values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td_target = batch.reward + gamma * (1 - batch.done)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 = F.smooth_l1_loss(q, td_target)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optimizer.zero_grad()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loss.backward()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torch.nn.utils.clip_grad_norm_(online.parameters(), 10)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optimizer.step()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3BA6-8DBC-4186-A4FB-1BE64A5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C8CC1-4547-4F34-9A58-ECC08B3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C76D7-218F-4B9C-8FF0-6AACAE4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B227-423D-4ECE-B39A-962A2C3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gather выбирает Q совершённого действия. no_grad фиксирует TD-target. Huber loss мягче MSE при больших ошибках.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FF160-F76B-4F82-941C-82C505A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58342-599C-4676-8D72-0535C6F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3B10C-3179-471F-B1A1-3FE68D2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87E0-79F2-4C7B-9158-D4E0153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mini-batch transitions. Выход: обновлённые веса online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01757-D35B-441A-AADD-0644404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c249fd38d694e8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785676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24319-29B2-4D44-8A10-D6E7EB9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0B1E2-2C6D-46EB-90B6-9A4D420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0CD36-B647-4402-9FE3-6531A1E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Double DQN: убрать систематическое завышение 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0F4F1-2F9F-430D-B84D-0F757F9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и тот же шум не должен одновременно выбирать и оценивать действие.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A6DE-FD13-45AF-B551-139D81D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D08AC-AE2E-427B-807F-7E42D79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a* = argmaxₐ Q_online(s′,a)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F842C-E91C-4E54-B1C4-1D71194E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online-сеть выбирает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394E3-0E81-47D4-88A1-2200ABD1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4DD76-0AC9-4C7F-896E-BEFDDA7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y = r + γ Q_target(s′,a*)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709D-67F9-4683-A2D6-8A638985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target-сеть оценивает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6132E-C9E6-4647-9B8D-E9EFFAD6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3FC6F-9720-42E0-B2E8-CDA0B2E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432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DQN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DC5AC-5A92-4F0F-A76C-98B7CE7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052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max у target-сети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4A788-1953-4995-9926-6690172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432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и оценка сцеплены; max предпочитает положительный шум и может завышать ценность.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06988-1FA4-4618-BD1A-1269680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36FF9-7AA9-455E-9BE9-23739D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48100"/>
            <a:ext cx="432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DOUBLE DQN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7DB21-1A48-42E1-A0B9-1A52C093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052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разделение ролей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2676F-3972-4CC8-A53C-F273596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05325"/>
            <a:ext cx="432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Меньше overestimation bias; не гарантирует улучшение в каждой задаче.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C111C-25F8-4DAB-8D2F-203C6D01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9df31d9067f406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782630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0A4E-5C1D-4E15-AF45-6D1AD5B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9AB1D-6B7E-4F27-9B04-71D23DCC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3F40D-087E-4997-B265-4BDDC177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Dueling architecture: ценность отдельно от преимущества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C6ECB-4EF5-42B1-B644-FEFC5D5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Полезно, когда многие действия в состоянии близки по качеству.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BED6-9F94-4923-8954-4E47982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F93A1-EC68-4857-8C73-7C6F485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общий encoder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h(s)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F4354-1BA6-49A9-A0F4-0A0C50F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781B5-F471-499F-ADFA-E46FE493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89326-52F0-43A1-844A-7BE4BCD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E0BF8-10A0-4EA4-B70C-08AC48A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Value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V(s)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C3085-793C-4B70-8D40-94CA747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5F63-6331-47F6-994D-72F1806A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Advantage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A(s,a)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3932E-988D-4B96-BA23-F82B3E91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4DB00-E0FC-4976-A9A9-3EC081A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7CEC6-9CF9-4067-8EED-3E6D0A7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Q(s,a) = V(s) + A(s,a) 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meanₐ A(s,a)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14BDE-7E31-483E-9C88-D1ED359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идентифицируемое объединение двух потоков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0E417-6671-471B-8E45-ACC7EE89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DDDQN в этой лекции = Dueling Double DQN: Double-target + dueling-head.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3F74D-1725-4A05-A7D1-72737C49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600364e249344b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4976613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750E7-864F-49DD-8E9E-3E3A264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91F02-F8CE-4BD4-BC62-8AA6D12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22E92-C658-4A7E-987C-96F2C80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Dueling Double DQN: целевой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234B-CC41-443B-B61B-735F77F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Double DQN — в target; dueling — внутри архитектуры online и target сетей.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54A89-F6EB-4BA7-BCBC-460ECF6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1A89F-95BB-421A-AD1F-E71BCA1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next_action = online(next_state).argmax(1, keepdim=True)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next_q = target(next_state).gather(1, next_action)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td_target = reward + gamma * (1 - 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 = online(state).gather(1, 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 = F.smooth_l1_loss(q, td_target)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AAC7-CF50-43A3-9477-4524EC0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18B04-3693-4478-9B33-A1E1931D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5ACC7-61A7-4BC2-B2EA-54D913D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2027B-7BD8-4D35-A6D9-695CE37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argmax берётся по online. gather берёт оценку выбранного действия из target. done маскирует bootstrap после terminal.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C5EA6-DD69-4A37-BF70-9F41FF0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C395E-744F-4843-8A5A-95D516D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A54BF-36DB-4593-BFEA-6AE28E7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F44EC-0C33-433A-ADD8-3584672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batch тензоров. Выход: scalar loss. Файл python/trading/agent.py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B6DA7-0973-4F7E-9BFD-681BDDA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5ed3c5ef83a4df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678363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415A1-5EAC-4426-81BF-DF93D35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EF386-8E08-44EB-9210-22C6CE9C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E4E6A-234E-43BB-B324-FFBA31D2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Торговая задача как MDP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32770-27B5-4261-BA03-D5AB492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Признаки рынка — наблюдение, а не истинное состояние: рынок частично наблюдаем и нестационарен.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D71A2-2D7C-4B94-8C3D-F8C7EEA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E1332-39A6-48DA-9BBB-1BE2F943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12631-29AA-4ADC-A793-62E0414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окно признаков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9CEE6-7A31-43D0-989E-EF99D9E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Returns, volatility, объём, технические индикаторы, текущая позиция, cash, время.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ECB8-3271-4994-AD3E-2E791B6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44373-5BC5-4EC1-B928-E4EAA3C3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881E4-4191-43E7-BFC8-165D91F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позиция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C89F1-5012-4D46-856B-B8F9FFA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Sell / Hold / Buy либо целевая доля капитала в активе.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60566-389D-4D0D-928B-42EC65EB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37E5D-012B-47CE-8968-099FF5B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REWARD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33716-9F3A-4A77-BE99-33A5CD7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PnL − costs −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CD143-EEFE-4A98-8530-7544B2C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Изменение equity минус комиссия, turnover и штраф за риск.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E443E-CBC6-438A-88C3-FAC34BC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743200" cy="3048000"/>
          </a:xfrm>
          <a:prstGeom xmlns:a="http://schemas.openxmlformats.org/drawingml/2006/main" prst="roundRect">
            <a:avLst>
              <a:gd name="adj" fmla="val 277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FBC06-38E1-4E04-8F4A-3280C25F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00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TERMINATION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B13D-8DE3-4C3D-AD6D-5397E467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9552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конец периода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94F92-EA96-4F8E-A34D-B973CC7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400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смешивать естественный конец данных, margin call и time-limit.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3C353-724A-43A0-BD53-154E47F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42d88b39e59450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957775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FB542-981E-4DA7-B698-BA2E8B3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81C22-9679-4278-8B43-16A98284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A9F1D-D9D3-4195-9A31-0E021F7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Data leakage: главная угроза красивого backtest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5CC13-577C-498A-B9B5-39868424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Временной ряд нельзя перемешивать как обычную IID-выборку.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C2AD8-A5D3-4082-9DB2-2350E0F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E0CB-6DC4-4138-8A1B-9819BBF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TRAIN · fit признаков и агента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67D1-2602-4D47-8FF5-2BFB3B7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C1EA6-D82D-48DA-9F41-B1F0001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71FFC-A45C-41D1-9A9D-258ECEB6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E5AEC-E880-43A1-A731-7E2BB16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TEST · один раз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3EE79-1A96-41A4-A521-25B82FF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3B8E2-9204-4157-8E47-774662C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Scaler, PCA и выбор признаков fit только на train.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D59F9-E218-42DC-9D4F-028A673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816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C69FC-F0CF-4EE9-988D-62AE99F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0063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Решение в момент t использует данные, доступные не позже 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7C84E-EECB-4FCA-80C5-7929D82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74B26-CCD7-4265-9741-235CAE1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Комиссии, проскальзывание, корпоративные действия и делистинг входят в симуляцию.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23087-F9E2-4243-A986-A0C9CB5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3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F05B1-F693-4DDC-8282-55C0AC3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4938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Walk-forward evaluation лучше одного случайного периода.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BEA12-0EDC-43C9-9026-802B3EE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c54a3d09f944ff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210743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6AD5C-C3C6-4576-8998-E86473B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68F4-4507-42E2-832C-F89CCD8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12919-A376-45BC-AE8A-4A76A24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Оценка: доходность без риска ничего не значит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3CC44-6CB2-4A4D-A3F5-81443B35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Отчёт должен сравнивать агент с Buy &amp; Hold и простой rule-based стратегией.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F5F3E-8196-4AE0-BC63-0251ED21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8F01-6F13-4865-BAED-92329C2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BADF9-0B13-46D0-A188-E687E62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рост капитала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45535-63B2-4BD0-9B87-1A8825A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показывает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C4BE-DE39-4B6F-B943-C8E453F2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FE49A-5AA9-4A86-926C-3E885A0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Sharpe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FB72-401F-4085-B50B-CFC493C4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return / volatility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7DE35-46D2-4F85-8E3F-163BBA0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чувствителен к допущениям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185DE-C426-46D7-A201-01FB2459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5C284-913F-4255-9370-B2331D1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Sortino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387EA-0945-48A2-A542-DB20F2D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downside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13B24-CB45-4C38-A20E-06C6C65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фокус на негативной волатильности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6C15D-C4AB-4BD7-BFC8-96E77140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5C7C6-D596-4E89-B282-A4EE0FC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Max 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3FF50-F125-454B-8AF8-A2E54A4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падение от пика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CD4EB-3514-4917-BDD9-40135BF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интуитивная мера риска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E761C-8824-41E4-8503-948DF76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36330-DED3-4960-9BCD-F5E3A13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Turnover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66E36-DEDD-4A3F-AA83-3035E96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объём торговли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7DF3A-9787-4563-9236-4890D208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связан с costs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1B0EB-3234-49A3-9EFC-0C044E50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22799-5AC8-422E-BAA9-7B6FADF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61D30-8CD7-4EB4-AF99-380269DA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разброс по seeds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02E8C-547C-4622-BBE3-40FFEF4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проверяет воспроизводимость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2B82E-72B4-4645-B6D4-6630E66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c85243e32f14fd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6924538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9BA0-229C-4413-A5F3-B494E03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FDBC-FC6F-4A1A-A0F7-CB1005E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7D71B-E42B-4263-9F7F-394BE90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алгоритм, комиссия, режим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FBCA0-D403-42F3-B966-EB529FCD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Синтетический стенд нужен для объяснения механики, а не для доказательства доходности.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12daacfd44c56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B40E-3D3F-4C00-AAB9-039693C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16628-C345-435B-BE0A-C92FC52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8A9FF-D760-4AAC-A732-3A090C4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4D26D-ABA5-49B4-ABC3-623AD10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DQN → DDQN → Dueling DDQN.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Комиссия 0 → 0.5%.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Тренд → высокая волатильность.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Сравнить return, Sharpe, max drawdown и число сделок.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8BD09-84CD-41D2-B2AB-CAB5E07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62BAF-04C3-401A-9A07-9CC0E079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83BE-16D3-4342-9D87-045287A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0656D-BF76-429D-A008-795B1E7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1CB62-F358-44FB-9032-2273D2A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a6149afdaf7433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416060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66485-2CA5-4907-8A11-986DE1B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FINRL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F66CE-A531-43E8-AD11-0BB6253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D76B3-4456-416A-B228-17539634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FinRL: готовый pipeline, не готовый научный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F5762-053B-4DBE-B9AE-744F9B11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Фреймворк ускоряет загрузку данных, построение среды и baseline, но не отменяет постановку эксперимента.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6562B-95E4-4197-94DE-914913C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E3693-71EA-4E85-8589-8B7CC8A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DATA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59E46-EA89-46F6-981F-C432B505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источники и признаки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DFCEB-166B-4F4D-9C0C-873EDC0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Загрузка, очистка, feature engineering и временное разбиение.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F8DF2-5E31-41B1-8BAC-AD33D0A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E9D6D-8CAC-425C-B7AC-010EE65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AB124-7732-44A0-AF31-EF7DF40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ENV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A6022-82C1-4E89-B2F0-EE205FB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market simulator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6D20E-4F73-4C4F-88EC-27D8276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Состояния, действия, reward, costs и ограничения.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3A21F-CFE1-4657-A102-90EAF78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57426-5BD5-45C4-AD47-C9149DF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3FC1F-01C7-42F3-8198-38F8F4C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AGENT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F98A0-ABD5-445C-9093-861AA0A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DRL algorithms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5A60A-BE31-4BCC-BC62-0E299007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Обучение и сохранение моделей; сравнение нескольких алгоритмов.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2CFFA-9902-4536-B3F7-CA869F90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4748A-286F-44A7-8DC5-AFBCF24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47875"/>
            <a:ext cx="2257425" cy="2667000"/>
          </a:xfrm>
          <a:prstGeom xmlns:a="http://schemas.openxmlformats.org/drawingml/2006/main" prst="roundRect">
            <a:avLst>
              <a:gd name="adj" fmla="val 337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B30E1-C5A8-434C-86F3-62102965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81225"/>
            <a:ext cx="19145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55926-6E7C-455A-89ED-F2B34C7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3840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backtest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DD15B-8324-406D-9A9D-4ED5DCF2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9145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Метрики, baseline, stress-сценарии и воспроизводимость.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93D00-0ED5-4ABD-AFB7-6C3F27D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86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40dad0954a542f5"/>
              </a:rPr>
              <a:t>github.com/AI4Finance-Foundation/FinRL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1F0C6-5674-4CF0-A6C6-9C488D8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3bfc879c60b4c4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357610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E1052-D77C-4846-8BBD-E4F5CBC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36A36-ABB1-4DCE-A723-E1E2770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59D3D-728F-44FE-B109-CC9DC556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Почему несколько агентов — это новая 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313BD-F2AA-4086-965D-50EEEF5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Для каждого агента остальные агенты становятся частью меняющейся среды.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E37F9-FD08-4527-9855-F46CDC4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4C691-70AB-4013-B044-A267E54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NON-STATIONARITY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3AF97-FD28-44BA-8F7D-D80D290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движущаяся 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EF1D0-934C-4AFD-9562-6CBB442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Политики других агентов обновляются; переходы уже не выглядят стационарными.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B96DC-EDB4-4F60-847E-9E1A87D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80A8E-168E-4756-9F40-DA6AC0C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CREDIT ASSIGNMENT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D2278-8314-45F0-B28F-31C1B33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кто помог?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C33F0-F932-400B-B587-B747948E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Общая награда не объясняет индивидуальный вклад и может вызывать free-riding.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6138A-0FAE-479B-AB5F-B012FFD1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E830B-20DD-4833-836D-5789E481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SCALABILITY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CF8D5-2C92-4698-8780-88788B3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joint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357C1-A9DE-45D3-8689-75C1202D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Совместное пространство действий растёт экспоненциально с числом агентов.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B5DFC-38A5-4221-979F-7A80A57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714375"/>
          </a:xfrm>
          <a:prstGeom xmlns:a="http://schemas.openxmlformats.org/drawingml/2006/main" prst="roundRect">
            <a:avLst>
              <a:gd name="adj" fmla="val 10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C311C-F07B-466E-8317-5DF4FD3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CTDE = centralized training + decentralized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E877F-CF4E-448F-9695-5471A57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глобальная информация доступна критику при обучении, но не обязательна каждой политике при исполнении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549A4-F92A-4115-A7F3-93916267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806cdbc39d0409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245775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C8278-59AA-4185-8185-55D0388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D87D1-2526-4B5B-A14E-FC20DC3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CBEA6-A703-40B8-BBAF-1EFC8D4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Карта методов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B064-58A6-4C31-821E-34B60D2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зависит от типа действий, кооперации и доступности общего состояния.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43490-E2F0-494C-A374-0BB976E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B2EC-BAF5-44F3-AB1C-A035BC7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619C4-AC58-46E2-A6D5-538CF6C1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Independent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2944E-47E8-49D4-AE04-C60DC93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просто, но нестационарно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594B4-777E-417E-9AD6-A209B83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6FA52-59BF-4029-8E79-5751450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D6B76-E93A-4952-8117-547C920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MADDPG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87860-4319-4832-A354-69DDD43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actor–critic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непрерывные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A9DF2-AA01-4423-9218-04FA70E9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D9A04-3F17-4C6A-8EE0-D7AEE270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0957-56C1-4A4D-8100-2734F4B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QMIX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83213-F991-442F-94E1-D29FB08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value decomposition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монотонное смешивание 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AB426-0215-44AF-B13B-DE97F26C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40994-6BB5-462B-A8A4-04CBEC1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43F6F-741B-4582-93A9-A24DD0B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67895-6DE2-43CF-AF5C-7CE1B71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policy gradient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сильный кооперативный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42500-6EA4-4590-8C2B-54C7E6A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543f155374ac4d3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736745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074EA-99B4-4477-9AFF-632927BF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446B-D73D-4100-B978-F1CB255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67466-72F0-4957-B0D0-D330FE2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Инструменты: среда, обучение, эксперименты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53217-046B-4E21-B519-9E20CC8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смешивайте API среды и реализацию алгоритма.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F942A-282C-4CBB-A209-D9E13C7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BEC7A-4600-4A2C-B5BE-A598ED5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PETTINGZOO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AE21-041D-42B0-B996-682C79C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API среды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931E-456A-4918-A034-AFA698A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AEC для последовательных ходов; Parallel API для одновременных действий. Тесты корректности пользовательской среды.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267AF-85A7-4359-B212-BEB7D84E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C2ADE-1DEB-4C6B-862D-6FFEDAEE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RLLIB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4F1F0-C5A3-41F6-9957-FB1DE8C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distributed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290E7-858A-4ED8-8601-26511C80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Масштабирование экспериментов, policy mapping, multi-agent environment interface.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00948-3BE6-4335-8DFE-628295D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A8DF2-2303-4CB5-8E60-75DF7E8D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MARLLIB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CA83C-F884-4B44-B936-32376B1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860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algorithm zoo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FC4AA-301A-4520-8DB9-AEBF2BD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3067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Единый слой запуска и сравнения MARL-алгоритмов поверх RLlib.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7EC3D-C1A8-40D1-A296-DACE1E0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Минимум для защиты: версии зависимостей, seed, конфигурация среды, mapping policy→agent и метрики по агентам.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E06E8-0887-44B4-84DB-DEBB68A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364e8c9536c43c0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9538228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589B-7AF6-4DE6-BAD1-F215574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2C690-7993-4AA1-844C-6CC7F39E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B6D3E-7806-4F70-9900-BF1F273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Три роли в портфельной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00D3F-B1DB-4A1C-AA44-5025F85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Координатор — механизм агрегации, не четвёртый обучающийся агент.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E7146-20E0-41C4-8707-7309E7BD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5069-9E32-414C-AA45-30F9746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AGENT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A4E41-CED9-483A-8AC5-8AB8165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Market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5651D-86D3-40E0-B0A8-C37C1A6B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Оценивает тренд, импульс и режим волатильности; предлагает направление позиции.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69E94-6E27-4714-A4F0-36C03F0A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67E2C-A97D-4979-8437-4CAE495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8597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AGENT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F0B9-2B14-494A-9EED-B5E36C0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Risk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DEAC-351D-4C01-AAF2-284990B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Ограничивает позицию по VaR, drawdown, волатильности и лимитам.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5E161-16FB-49FA-BA86-84169A4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21945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1EE6-53F0-4381-8E5B-4617887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85975"/>
            <a:ext cx="287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AGENT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CD033-77F4-40FA-A186-E1C30EE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News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DC69B-267B-431F-890C-2A68087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876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Преобразует события и сентимент в сигнал с оценкой доверия.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0A7F4-5326-4CE6-AF02-5A2BC75C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63EBD-EDE0-41D0-9C36-A68A0EB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8B9B2-FABE-4E3F-BAA9-8673577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29648-BE5A-4382-B4EC-D48E6117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A6901-9A99-4D49-B434-F4D446F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proposal = {signal, confidence, rationale} → constraints → allocation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9109B-C980-4444-BE06-52C02E6B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общий контракт делает поведение агентов наблюдаемым и тестируемым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A6F0E-AE60-4955-9AD3-7E6E5AA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3109acf9bd4481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95075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5AC49-6C60-4CE3-AADE-5D41295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E6922-DD23-4774-8107-3674D37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98A3D-8A12-4FFE-8E9A-BD48A39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Контракт сообщений и агрегатор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B044A-88BF-4E39-A84C-71E6F44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Типизированное сообщение помогает трассировать вклад каждого агента.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5186-D647-4509-B731-AEE8E41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1F7D7-94AD-43BD-9560-97C5A4F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proposals =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"market": market_agent.act(observation),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"risk": risk_agent.act(observation),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"news": news_agent.act(observation),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score = sum(p.signal * p.confidence * weights[name]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   for name, p in proposals.items())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allocation = risk_agent.project(score, position_limit)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76AE7-34A1-4587-A19E-B60074C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BAAA-6FBF-474A-B236-83173FAB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39C13-5C3D-442D-AAE5-ECA58AD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C1DF2-5D6A-47A9-84EF-F6EA3A0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Сигнал отделён от confidence. Risk Agent применяет hard constraint после агрегирования, поэтому лимит не может быть отменён голосованием.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E717F-6965-4470-BB4B-CAA5F09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87F97-D8DF-4111-8158-FC4186F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F1379-E9CB-408D-90B2-44BF7BE7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26042-036A-493C-B834-2F8F9F88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общее observation. Выход: proposals и допустимое распределение портфеля.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6BCCE-6ACE-4670-BA89-CA35877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06b4efb222244fb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07855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D303F-7D23-4828-B92D-E6175B2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6DAE7-310A-4CE6-90DB-CD110BB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A0F3-53E6-4544-BEC5-9CBA1C9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три агента в одном портфеле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31B6-0DF9-4B14-AA3A-D64A531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Изменяйте вес новостей, лимит позиции и режим кооперации.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e2a2c436b4b6a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71AED-6DA4-4177-B0D2-4336348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495C9-E91F-4089-AAC4-7559BDC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B2FC-A9C2-4B85-956B-064AC89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2BAC5-907E-4831-A5C2-F6549F7E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Нажать «30 дней».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Увеличить вес News Agent.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Снизить лимит позиции.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CTDE → independent.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5) Объяснить, кто изменил итоговую аллокацию.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5879E-4D52-4632-B56A-4017671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A2B4A-BC14-4707-8C36-4D18386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E782F-09D2-4500-8CC9-D7C7F9C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1F941-27B1-43AF-88A4-B13B4130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337E-B28F-4B16-9CC1-3A5FCA0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6dd5242d01241a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832286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7BF12-5C8E-43F7-8BEC-0C6968FC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ЗАЩИТА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2FA8-267D-4F40-9702-C85E4595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2AADE-2222-4692-BA9E-7410EEB3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Итоговая архитектура лабораторного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B9D4F-7F76-49C1-BED8-5124B121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репозиторий, одинаковые контракты, разные агенты.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B6369-4A57-42B4-A92A-C63700F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DD82E-3F64-432D-9ED3-D5839A4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demo/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3D099-5684-4B37-832E-180228EB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веб-интерфейс и сценарий демонстрации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D3727-7A04-4401-9F5A-E90A683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1AED3-213B-4654-A54D-6C70DE3D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43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evaluate.py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D0D0-0FDC-40E8-AAC6-63669E9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метрики, baseline, CI и графики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5D7C6-3D45-4C8C-9DCD-8519562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2420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53CD-5CEE-4692-9D52-B7EE048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train.py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FDC5E-B5D3-445F-9CB4-F2AF844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цикл обучения, checkpoints,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0F1DB-F09E-49D7-9FB2-E167A395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4F7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64A1-2889-451B-94F7-783611D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agents/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84378-0916-43D1-8C0E-20B994B6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bandit · CEM · DDDQN · MARL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82EB6-E244-4658-954E-06DD3B8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FF6E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779BC-CA12-45E0-B8EF-9BC2E14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envs/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89B4B-6798-42C7-9B6C-7CA495F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DogBoneEnv · TradingEnv · PettingZoo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6F7A2-1460-4D7D-91DE-276172D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01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DE448-952B-4B00-A3B7-90482CD6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data/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E16B2-F2F2-4500-BF31-7CFFE974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244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версионирование и временное разбиение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E4F6C-7EED-49C6-A406-D54B3C9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353874614f247a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4835333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6C9D9-9DD4-4A05-BD18-531BCC06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ЗАЩИТА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346C-6D86-4E78-B77E-9FFCC13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8A1C3-6784-49AB-96FF-734FB00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Чек-лист перед показом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6EE76-E17C-41CF-B403-80ED15E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Демонстрация должна подтверждать вывод, а не заменять эксперимент.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DE3DD-67AD-484D-85E0-42296A0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55E8B-87AA-4E8F-9F0A-16C8AF4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Среда проходит unit/API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D192E-FF7F-49C2-9382-15FBC21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941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6C0C5-4811-469A-ACBD-855F7EB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1313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Все seed и версии зафиксированы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50CC1-FE5C-4AF7-8613-4B2E29D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BD67C-A4C1-485F-A81B-F62AA6A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Есть baseline и абляция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866B8-992A-446D-B7B0-DC9C87D7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1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BD88E-FEA0-416D-B164-13085A7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Train/validation/test разделены корректно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C1B3-6AFC-42D9-90E3-CA9F5712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90AE4-5A73-4394-9E9D-1FE0528E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Графики построены по нескольким запускам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EAE0E-92A5-40C3-A175-76F2825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941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07807-574B-4AB9-A2C4-7311367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1313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Ошибки и ограничения описаны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A5394-BE94-474D-A9DA-372A077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8B91F-EE26-4E29-A897-6FC892AF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Код запускается одной командой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091CC-7CC3-4A9A-8137-880FDAE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1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2B76A-CFF6-43EA-ACF8-067686A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2938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Live demo имеет запасной сценарий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1F2B3-4D6F-4022-97D3-8D95059D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B0C3A-468B-4BA9-B4E8-C07453F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959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сильный вывод = эффект + неопределённость + границы применимости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E51F8-D95A-4247-9B42-BE2B9CD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делайте инвестиционных выводов по учебному backtest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841E0-DEFA-4FE5-A226-1D3EE9B4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77e7fcb9bf843f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84010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24ED7-E03A-465B-90AA-D25C5EC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EBE86-2DE0-4F87-8929-615560C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AC38E-1820-4391-BF05-64B8830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Куда идти дальше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260DF-2C44-4D5B-A37E-8024F9D5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Первичные статьи и официальная документация.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B8E97-B410-481D-BC2C-02B9EFE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98A03-04E0-4E37-BF14-999C0E31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b26f6ff87e66493c"/>
              </a:rPr>
              <a:t>Sutton &amp; Barto · RL: An 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E5C87-DEBB-47B7-9051-91DA0CC5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incompleteideas.net/book/the-book-2nd.html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5183D-7571-46C1-9145-497296C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F12B-706E-473D-B693-B91AB59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a0421c2cd2b942bb"/>
              </a:rPr>
              <a:t>Gymnasium · Env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6FDD7-8E2B-4B82-AAF9-BB12078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gymnasium.farama.org/main/api/env/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4B34-F33E-499C-B5A4-CA65F1AE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E35A5-86E3-4455-9801-DCAF27A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c5b8c691fbd5446b"/>
              </a:rPr>
              <a:t>Mnih et al. · DQN · Nature 2015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D9D72-5077-4649-BB78-132F097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doi.org/10.1038/nature14236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D2BD8-B2F7-4E9E-9D91-C6EA87FF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DAC4B-5DF3-4553-988F-2A7A2304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30ee70ae805a4791"/>
              </a:rPr>
              <a:t>van Hasselt et al. · Double DQN · AAAI 2016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81F6D-C2BF-4A3E-B69B-FD3198FB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doi.org/10.1609/aaai.v30i1.10295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BCD8-1D10-40BE-BC6F-F6E7E4C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BC01C-BDA9-4755-AAF7-6B911989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105cf3620b6c420f"/>
              </a:rPr>
              <a:t>Wang et al. · Dueling Networks · ICML 2016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828B7-A091-4DE7-8C8F-7ACBE7C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proceedings.mlr.press/v48/wangf16.html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EEB50-70B8-4BA6-B5AD-1389E64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282B1-4710-4860-8E75-89EB7F6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b08f919841f84dd7"/>
              </a:rPr>
              <a:t>FinRL · official 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CA8AE-3F75-4237-80C5-2364D5CD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github.com/AI4Finance-Foundation/FinRL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DDD8-284B-4A26-8DC9-419D854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84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900F6-1A74-4318-8A82-1C7BEF8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349a1437746444ec"/>
              </a:rPr>
              <a:t>PettingZoo · official 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CA146-6D88-4366-B862-371211E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pettingzoo.farama.org/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2B57A-FD9C-49CB-AC7E-B372147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147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42B19-8C9D-4D7E-BB61-2B4D5A18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9e1eda50613947f4"/>
              </a:rPr>
              <a:t>QMIX · ICML 2018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A93A9-CB16-4187-BACE-B340C7C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proceedings.mlr.press/v80/rashid18a.html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A0AC8-9D0D-45B1-9886-C6B90840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B12D4-B106-406A-B638-3512B9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d49512d83ba349ad"/>
              </a:rPr>
              <a:t>MADDPG · NeurIPS 2017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87CA0-31D1-4494-B920-456C3F99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proceedings.neurips.cc/paper/2017/hash/68a9750337a418a86fe06c1991a1d64c-Abstract.html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1B2EB-5133-4293-90F1-234E56E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E3678-4466-4556-A1F9-9DB36B9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93609caceafd4583"/>
              </a:rPr>
              <a:t>MAPPO · paper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9C956-4075-455C-A39F-85D32C9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292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arxiv.org/abs/2103.01955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45A18-45A7-42AB-A289-A0ECC0A9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585244e7c16479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91970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2026-09-17T17:11:00.7600000Z</dcterms:created>
  <dcterms:modified xsi:type="dcterms:W3CDTF">2026-09-17T17:11:00.7600000Z</dcterms:modified>
</coreProperties>
</file>
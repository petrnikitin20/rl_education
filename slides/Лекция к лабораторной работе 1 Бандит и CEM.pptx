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531fc3a29c64f9d" /><Relationship Type="http://schemas.openxmlformats.org/officeDocument/2006/relationships/extended-properties" Target="/docProps/app.xml" Id="R3a04a8360a714508" /><Relationship Type="http://schemas.openxmlformats.org/officeDocument/2006/relationships/officeDocument" Target="/ppt/presentation.xml" Id="R2c72a0d2a1e0450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c74e2d8c77c4ff2"/>
  </p:sldMasterIdLst>
  <p:notesMasterIdLst>
    <p:notesMasterId xmlns:r="http://schemas.openxmlformats.org/officeDocument/2006/relationships" r:id="Rb808fc08e2554595"/>
  </p:notesMasterIdLst>
  <p:sldIdLst>
    <p:sldId xmlns:r="http://schemas.openxmlformats.org/officeDocument/2006/relationships" id="256" r:id="Rdefb68a8dd47451a"/>
    <p:sldId xmlns:r="http://schemas.openxmlformats.org/officeDocument/2006/relationships" id="257" r:id="R66f25b11a0ca4643"/>
    <p:sldId xmlns:r="http://schemas.openxmlformats.org/officeDocument/2006/relationships" id="258" r:id="Raa31d106c3af47ee"/>
    <p:sldId xmlns:r="http://schemas.openxmlformats.org/officeDocument/2006/relationships" id="259" r:id="R46b21f2e351744b2"/>
    <p:sldId xmlns:r="http://schemas.openxmlformats.org/officeDocument/2006/relationships" id="260" r:id="Rf359e66297a34270"/>
    <p:sldId xmlns:r="http://schemas.openxmlformats.org/officeDocument/2006/relationships" id="261" r:id="Re27d50b88db04267"/>
    <p:sldId xmlns:r="http://schemas.openxmlformats.org/officeDocument/2006/relationships" id="262" r:id="R6f1729ce813b49e2"/>
    <p:sldId xmlns:r="http://schemas.openxmlformats.org/officeDocument/2006/relationships" id="263" r:id="Rd9cad3a7b15f40a4"/>
    <p:sldId xmlns:r="http://schemas.openxmlformats.org/officeDocument/2006/relationships" id="264" r:id="R6f2790c435764640"/>
    <p:sldId xmlns:r="http://schemas.openxmlformats.org/officeDocument/2006/relationships" id="265" r:id="R3610e358fc354d60"/>
    <p:sldId xmlns:r="http://schemas.openxmlformats.org/officeDocument/2006/relationships" id="266" r:id="R715b4c491dc94e7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bfa92ae7af54bb1" /><Relationship Type="http://schemas.openxmlformats.org/officeDocument/2006/relationships/slideMaster" Target="/ppt/slideMasters/slideMaster1.xml" Id="R4c74e2d8c77c4ff2" /><Relationship Type="http://schemas.openxmlformats.org/officeDocument/2006/relationships/notesMaster" Target="/ppt/notesMasters/notesMaster1.xml" Id="Rb808fc08e2554595" /><Relationship Type="http://schemas.openxmlformats.org/officeDocument/2006/relationships/presProps" Target="/ppt/presProps.xml" Id="R2773ffb60b87466b" /><Relationship Type="http://schemas.openxmlformats.org/officeDocument/2006/relationships/tableStyles" Target="/ppt/tableStyles.xml" Id="R38fdbba14b254d0c" /><Relationship Type="http://schemas.openxmlformats.org/officeDocument/2006/relationships/slide" Target="/ppt/slides/slide1.xml" Id="Rdefb68a8dd47451a" /><Relationship Type="http://schemas.openxmlformats.org/officeDocument/2006/relationships/slide" Target="/ppt/slides/slide2.xml" Id="R66f25b11a0ca4643" /><Relationship Type="http://schemas.openxmlformats.org/officeDocument/2006/relationships/slide" Target="/ppt/slides/slide3.xml" Id="Raa31d106c3af47ee" /><Relationship Type="http://schemas.openxmlformats.org/officeDocument/2006/relationships/slide" Target="/ppt/slides/slide4.xml" Id="R46b21f2e351744b2" /><Relationship Type="http://schemas.openxmlformats.org/officeDocument/2006/relationships/slide" Target="/ppt/slides/slide5.xml" Id="Rf359e66297a34270" /><Relationship Type="http://schemas.openxmlformats.org/officeDocument/2006/relationships/slide" Target="/ppt/slides/slide6.xml" Id="Re27d50b88db04267" /><Relationship Type="http://schemas.openxmlformats.org/officeDocument/2006/relationships/slide" Target="/ppt/slides/slide7.xml" Id="R6f1729ce813b49e2" /><Relationship Type="http://schemas.openxmlformats.org/officeDocument/2006/relationships/slide" Target="/ppt/slides/slide8.xml" Id="Rd9cad3a7b15f40a4" /><Relationship Type="http://schemas.openxmlformats.org/officeDocument/2006/relationships/slide" Target="/ppt/slides/slide9.xml" Id="R6f2790c435764640" /><Relationship Type="http://schemas.openxmlformats.org/officeDocument/2006/relationships/slide" Target="/ppt/slides/slide10.xml" Id="R3610e358fc354d60" /><Relationship Type="http://schemas.openxmlformats.org/officeDocument/2006/relationships/slide" Target="/ppt/slides/slide11.xml" Id="R715b4c491dc94e7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04ebbc028da4e7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443e5a429d74ee6" /><Relationship Type="http://schemas.openxmlformats.org/officeDocument/2006/relationships/notesMaster" Target="/ppt/notesMasters/notesMaster1.xml" Id="R72b921f6e2ea413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52f1c08bbfc44d1" /><Relationship Type="http://schemas.openxmlformats.org/officeDocument/2006/relationships/notesMaster" Target="/ppt/notesMasters/notesMaster1.xml" Id="R4b63bb41f0ea41d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c6fee1e85c54be9" /><Relationship Type="http://schemas.openxmlformats.org/officeDocument/2006/relationships/notesMaster" Target="/ppt/notesMasters/notesMaster1.xml" Id="R057b46a4f6bd413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ef968022811498a" /><Relationship Type="http://schemas.openxmlformats.org/officeDocument/2006/relationships/notesMaster" Target="/ppt/notesMasters/notesMaster1.xml" Id="Rd9a3f88bcf694ba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97c1144929c43f1" /><Relationship Type="http://schemas.openxmlformats.org/officeDocument/2006/relationships/notesMaster" Target="/ppt/notesMasters/notesMaster1.xml" Id="Rd09ed4cb69c04e0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c7812431f14440c" /><Relationship Type="http://schemas.openxmlformats.org/officeDocument/2006/relationships/notesMaster" Target="/ppt/notesMasters/notesMaster1.xml" Id="R6eea30a23fa64ff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58b8e4a31f64055" /><Relationship Type="http://schemas.openxmlformats.org/officeDocument/2006/relationships/notesMaster" Target="/ppt/notesMasters/notesMaster1.xml" Id="R2eddc8c486cd415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54c890a51da4ee3" /><Relationship Type="http://schemas.openxmlformats.org/officeDocument/2006/relationships/notesMaster" Target="/ppt/notesMasters/notesMaster1.xml" Id="R9aef32b8088340f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683bede0d0b48a5" /><Relationship Type="http://schemas.openxmlformats.org/officeDocument/2006/relationships/notesMaster" Target="/ppt/notesMasters/notesMaster1.xml" Id="Rff43a189c6cf457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67a5200d21e46aa" /><Relationship Type="http://schemas.openxmlformats.org/officeDocument/2006/relationships/notesMaster" Target="/ppt/notesMasters/notesMaster1.xml" Id="R31caf01e9829413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1a76416253643bf" /><Relationship Type="http://schemas.openxmlformats.org/officeDocument/2006/relationships/notesMaster" Target="/ppt/notesMasters/notesMaster1.xml" Id="R7130bf8781ab431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Sutton &amp; Barto (2020); MOEX ISS reference 409; материалы лабораторной работы и репозиторий RL_education.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Sutton &amp; Barto (2020); MOEX ISS reference 409; материалы лабораторной работы и репозиторий RL_education.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Sutton &amp; Barto (2020); MOEX ISS reference 409; материалы лабораторной работы и репозиторий RL_education.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Sutton &amp; Barto (2020); MOEX ISS reference 409; материалы лабораторной работы и репозиторий RL_education.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Sutton &amp; Barto (2020); MOEX ISS reference 409; материалы лабораторной работы и репозиторий RL_education.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Sutton &amp; Barto (2020); MOEX ISS reference 409; материалы лабораторной работы и репозиторий RL_education.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Sutton &amp; Barto (2020); MOEX ISS reference 409; материалы лабораторной работы и репозиторий RL_education.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Sutton &amp; Barto (2020); MOEX ISS reference 409; материалы лабораторной работы и репозиторий RL_education.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Sutton &amp; Barto (2020); MOEX ISS reference 409; материалы лабораторной работы и репозиторий RL_education.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Sutton &amp; Barto (2020); MOEX ISS reference 409; материалы лабораторной работы и репозиторий RL_education.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Sutton &amp; Barto (2020); MOEX ISS reference 409; материалы лабораторной работы и репозиторий RL_education.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ca3656280747f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743a89d6ebe4c4c" /><Relationship Type="http://schemas.openxmlformats.org/officeDocument/2006/relationships/slideLayout" Target="/ppt/slideLayouts/slideLayout1.xml" Id="R747baa8026c043e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47baa8026c043e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a69f88021b4662" /><Relationship Type="http://schemas.openxmlformats.org/officeDocument/2006/relationships/image" Target="/ppt/media/image.png" Id="Ra22ce1dea08b42a0" /><Relationship Type="http://schemas.openxmlformats.org/officeDocument/2006/relationships/notesSlide" Target="/ppt/notesSlides/notesSlide1.xml" Id="Rb0672d62b844401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a05932f4454365" /><Relationship Type="http://schemas.openxmlformats.org/officeDocument/2006/relationships/image" Target="/ppt/media/image2.png" Id="R8e6dfe29da5a4ac5" /><Relationship Type="http://schemas.openxmlformats.org/officeDocument/2006/relationships/notesSlide" Target="/ppt/notesSlides/notesSlide2.xml" Id="R843228b134b74ce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38387e077e4960" /><Relationship Type="http://schemas.openxmlformats.org/officeDocument/2006/relationships/image" Target="/ppt/media/image3.png" Id="Rff96d24a9a224e71" /><Relationship Type="http://schemas.openxmlformats.org/officeDocument/2006/relationships/notesSlide" Target="/ppt/notesSlides/notesSlide3.xml" Id="R051b79700423467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07dec357164ec4" /><Relationship Type="http://schemas.openxmlformats.org/officeDocument/2006/relationships/image" Target="/ppt/media/image4.png" Id="R46ff3a595546427e" /><Relationship Type="http://schemas.openxmlformats.org/officeDocument/2006/relationships/notesSlide" Target="/ppt/notesSlides/notesSlide4.xml" Id="R55478546f00f4be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b4699c61784d4b" /><Relationship Type="http://schemas.openxmlformats.org/officeDocument/2006/relationships/image" Target="/ppt/media/image5.png" Id="R250adea989ee4f2f" /><Relationship Type="http://schemas.openxmlformats.org/officeDocument/2006/relationships/notesSlide" Target="/ppt/notesSlides/notesSlide5.xml" Id="R908d476e8e054b5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d961c7cf2343f4" /><Relationship Type="http://schemas.openxmlformats.org/officeDocument/2006/relationships/image" Target="/ppt/media/image6.png" Id="R53ae5ea3d10f4334" /><Relationship Type="http://schemas.openxmlformats.org/officeDocument/2006/relationships/notesSlide" Target="/ppt/notesSlides/notesSlide6.xml" Id="R6f4e956e65ca4d7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b8fc4e82614689" /><Relationship Type="http://schemas.openxmlformats.org/officeDocument/2006/relationships/image" Target="/ppt/media/image7.png" Id="R850ab11bfdb748d8" /><Relationship Type="http://schemas.openxmlformats.org/officeDocument/2006/relationships/notesSlide" Target="/ppt/notesSlides/notesSlide7.xml" Id="R8d4ec52ee1cf483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dee802ef8a41f7" /><Relationship Type="http://schemas.openxmlformats.org/officeDocument/2006/relationships/image" Target="/ppt/media/image8.png" Id="R1ead96b0119f4f7b" /><Relationship Type="http://schemas.openxmlformats.org/officeDocument/2006/relationships/notesSlide" Target="/ppt/notesSlides/notesSlide8.xml" Id="R9eac09ce40a14de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147a1bbe364f80" /><Relationship Type="http://schemas.openxmlformats.org/officeDocument/2006/relationships/image" Target="/ppt/media/image9.png" Id="R4970154ab87244c7" /><Relationship Type="http://schemas.openxmlformats.org/officeDocument/2006/relationships/notesSlide" Target="/ppt/notesSlides/notesSlide9.xml" Id="Rc0122d8d904546e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fe30dca19440ee" /><Relationship Type="http://schemas.openxmlformats.org/officeDocument/2006/relationships/image" Target="/ppt/media/image10.png" Id="R65c9767612b14160" /><Relationship Type="http://schemas.openxmlformats.org/officeDocument/2006/relationships/notesSlide" Target="/ppt/notesSlides/notesSlide10.xml" Id="Ra461e652eb4d420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5c3c6cc0144dc8" /><Relationship Type="http://schemas.openxmlformats.org/officeDocument/2006/relationships/image" Target="/ppt/media/image11.png" Id="Recdd4bb763c34890" /><Relationship Type="http://schemas.openxmlformats.org/officeDocument/2006/relationships/notesSlide" Target="/ppt/notesSlides/notesSlide11.xml" Id="R6fd442cfc29f434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5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2ce1dea08b42a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8F92F6-A977-4BAB-9CB0-C69D1B060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"/>
            <a:ext cx="96678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B6E"/>
          </a:solidFill>
          <a:ln xmlns:a="http://schemas.openxmlformats.org/drawingml/2006/main" w="0">
            <a:solidFill>
              <a:srgbClr val="286B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51E4A8-2AAB-43AA-9FB2-1F34AFF6D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"/>
            <a:ext cx="9667875" cy="590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86B6E"/>
          </a:solidFill>
          <a:ln xmlns:a="http://schemas.openxmlformats.org/drawingml/2006/main" w="0">
            <a:solidFill>
              <a:srgbClr val="286B6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83065D-3AD9-4309-AA6E-AA504C8BF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4350"/>
            <a:ext cx="8524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Лабораторная №1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F44569-F5D3-422F-8288-180E2EEA6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6858000" cy="3524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BCD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9AE33D-FD61-4919-A022-E9F9D6BCE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47875"/>
            <a:ext cx="6143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621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62128"/>
                </a:solidFill>
                <a:latin typeface="Arial"/>
                <a:ea typeface="Arial"/>
                <a:cs typeface="Arial"/>
              </a:rPr>
              <a:t>ЛЕКЦИЯ К ЛАБОРАТОРНОЙ РАБОТЕ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A37B13-E02A-4C41-A5BB-F7489050B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24125"/>
            <a:ext cx="61436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85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1">
                <a:solidFill>
                  <a:srgbClr val="173852"/>
                </a:solidFill>
                <a:latin typeface="Times New Roman"/>
                <a:ea typeface="Times New Roman"/>
                <a:cs typeface="Times New Roman"/>
              </a:rPr>
              <a:t>Многорукий бандит и Cross-Entropy Method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F74A18-CE46-4A2F-A423-DEA966020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38625"/>
            <a:ext cx="590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4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46B"/>
                </a:solidFill>
                <a:latin typeface="Arial"/>
                <a:ea typeface="Arial"/>
                <a:cs typeface="Arial"/>
              </a:rPr>
              <a:t>Никитин Пётр Владимирович</a:t>
            </a:r>
          </a:p>
          <a:p xmlns:a="http://schemas.openxmlformats.org/drawingml/2006/main">
            <a:pPr algn="l">
              <a:defRPr sz="1500" b="0">
                <a:solidFill>
                  <a:srgbClr val="5264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46B"/>
                </a:solidFill>
                <a:latin typeface="Arial"/>
                <a:ea typeface="Arial"/>
                <a:cs typeface="Arial"/>
              </a:rPr>
              <a:t>Кафедра искусственного интеллекта</a:t>
            </a:r>
          </a:p>
          <a:p xmlns:a="http://schemas.openxmlformats.org/drawingml/2006/main">
            <a:pPr algn="l">
              <a:defRPr sz="1500" b="0">
                <a:solidFill>
                  <a:srgbClr val="5264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46B"/>
                </a:solidFill>
                <a:latin typeface="Arial"/>
                <a:ea typeface="Arial"/>
                <a:cs typeface="Arial"/>
              </a:rPr>
              <a:t>Финансовый университет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734152-C405-4279-B3D0-6DE4784BB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52625"/>
            <a:ext cx="3095625" cy="309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6B6E"/>
          </a:solidFill>
          <a:ln xmlns:a="http://schemas.openxmlformats.org/drawingml/2006/main" w="9525">
            <a:solidFill>
              <a:srgbClr val="286B6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3F255C-94D0-448E-92E4-F8B27275D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33625"/>
            <a:ext cx="3095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1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1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RL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491498-255B-4615-A9DD-63E165821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476625"/>
            <a:ext cx="2428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теория → эксперимент → вывод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57718E-38AA-4CBA-A6F6-251219C02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1032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4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46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768680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5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6dfe29da5a4ac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B49BBC-B46D-44A9-8FC0-A5C428F51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"/>
            <a:ext cx="96678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B6E"/>
          </a:solidFill>
          <a:ln xmlns:a="http://schemas.openxmlformats.org/drawingml/2006/main" w="0">
            <a:solidFill>
              <a:srgbClr val="286B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2E3968-6872-48F5-8C09-6B266C9BF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"/>
            <a:ext cx="9667875" cy="590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86B6E"/>
          </a:solidFill>
          <a:ln xmlns:a="http://schemas.openxmlformats.org/drawingml/2006/main" w="0">
            <a:solidFill>
              <a:srgbClr val="286B6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D4DA6C-AB84-4DFF-8580-993C46C88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4350"/>
            <a:ext cx="8524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Результаты обучения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EFAC37-947A-4546-B2DD-B555D048C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6B6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86B6E"/>
                </a:solidFill>
                <a:latin typeface="Arial"/>
                <a:ea typeface="Arial"/>
                <a:cs typeface="Arial"/>
              </a:rPr>
              <a:t>Что студент должен уметь после работы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DEB3D0-F706-4587-A317-AAECCAADA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3435350" cy="3714750"/>
          </a:xfrm>
          <a:prstGeom xmlns:a="http://schemas.openxmlformats.org/drawingml/2006/main" prst="roundRect">
            <a:avLst>
              <a:gd name="adj" fmla="val 22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D2D4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6355DF-E89C-4E14-9B70-88527BB9F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05000"/>
            <a:ext cx="301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86B6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86B6E"/>
                </a:solidFill>
                <a:latin typeface="Arial"/>
                <a:ea typeface="Arial"/>
                <a:cs typeface="Arial"/>
              </a:rPr>
              <a:t>Бандит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193725-7312-439B-B0AB-1AB0CC179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95550"/>
            <a:ext cx="30162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Объяснить exploration/exploitation, reward и cumulative regret.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46CA28-0C6E-408F-A1F0-9D069CD00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700" y="1714500"/>
            <a:ext cx="3435350" cy="3714750"/>
          </a:xfrm>
          <a:prstGeom xmlns:a="http://schemas.openxmlformats.org/drawingml/2006/main" prst="roundRect">
            <a:avLst>
              <a:gd name="adj" fmla="val 2218"/>
            </a:avLst>
          </a:prstGeom>
          <a:solidFill xmlns:a="http://schemas.openxmlformats.org/drawingml/2006/main">
            <a:srgbClr val="F3F7F7"/>
          </a:solidFill>
          <a:ln xmlns:a="http://schemas.openxmlformats.org/drawingml/2006/main" w="9525">
            <a:solidFill>
              <a:srgbClr val="C5D2D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3B0544-BB6A-44AF-873C-FD7AEEBB0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0250" y="1905000"/>
            <a:ext cx="301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86B6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86B6E"/>
                </a:solidFill>
                <a:latin typeface="Arial"/>
                <a:ea typeface="Arial"/>
                <a:cs typeface="Arial"/>
              </a:rPr>
              <a:t>CEM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327B41-C21B-49BA-914A-9DEA0C968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0250" y="2495550"/>
            <a:ext cx="30162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Построить элитную выборку траекторий и обновить политику.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239760-188D-4517-8BBC-81E76E972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1714500"/>
            <a:ext cx="3435350" cy="3714750"/>
          </a:xfrm>
          <a:prstGeom xmlns:a="http://schemas.openxmlformats.org/drawingml/2006/main" prst="roundRect">
            <a:avLst>
              <a:gd name="adj" fmla="val 22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D2D4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36A6DC-3988-4561-825E-EFB1C7DF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1905000"/>
            <a:ext cx="301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86B6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86B6E"/>
                </a:solidFill>
                <a:latin typeface="Arial"/>
                <a:ea typeface="Arial"/>
                <a:cs typeface="Arial"/>
              </a:rPr>
              <a:t>Исследование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748C64-FF22-49DD-9A2A-A3612B68D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2495550"/>
            <a:ext cx="30162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Зафиксировать гипотезу, seed, метрики и доверительный интервал.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03349C-36BB-4468-B9C7-F06EA8B3A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1032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4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46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259842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5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96d24a9a224e7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E2ACCC-234C-4050-BE55-94CA6627C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"/>
            <a:ext cx="96678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B6E"/>
          </a:solidFill>
          <a:ln xmlns:a="http://schemas.openxmlformats.org/drawingml/2006/main" w="0">
            <a:solidFill>
              <a:srgbClr val="286B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8D1255-B667-4776-BEC5-9D3FBD956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"/>
            <a:ext cx="9667875" cy="590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86B6E"/>
          </a:solidFill>
          <a:ln xmlns:a="http://schemas.openxmlformats.org/drawingml/2006/main" w="0">
            <a:solidFill>
              <a:srgbClr val="286B6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E55AF7-632E-4FCB-A007-930BD7D21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4350"/>
            <a:ext cx="8524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Многорукий бандит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183165-CE03-4609-98A6-F81FACF73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6B6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86B6E"/>
                </a:solidFill>
                <a:latin typeface="Arial"/>
                <a:ea typeface="Arial"/>
                <a:cs typeface="Arial"/>
              </a:rPr>
              <a:t>Математическая основа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D0AD4A-0C22-459C-8C4D-A41572360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104775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AF4F1"/>
          </a:solidFill>
          <a:ln xmlns:a="http://schemas.openxmlformats.org/drawingml/2006/main" w="9525">
            <a:solidFill>
              <a:srgbClr val="AFCFC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93E99F-C9C3-4422-A8AF-FD597075F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838325"/>
            <a:ext cx="1000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85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173852"/>
                </a:solidFill>
                <a:latin typeface="Times New Roman"/>
                <a:ea typeface="Times New Roman"/>
                <a:cs typeface="Times New Roman"/>
              </a:rPr>
              <a:t>Qₙ₊₁(a)=Qₙ(a)+1/Nₙ(a)·[Rₙ−Qₙ(a)]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9B074B-04DF-49C2-B341-8F7D98164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05125"/>
            <a:ext cx="104775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DF3F8"/>
          </a:solidFill>
          <a:ln xmlns:a="http://schemas.openxmlformats.org/drawingml/2006/main" w="9525">
            <a:solidFill>
              <a:srgbClr val="AFC1D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72616B-FD8D-4AA1-AC79-5554AC3A7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028950"/>
            <a:ext cx="1000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85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173852"/>
                </a:solidFill>
                <a:latin typeface="Times New Roman"/>
                <a:ea typeface="Times New Roman"/>
                <a:cs typeface="Times New Roman"/>
              </a:rPr>
              <a:t>Regret(T)=Tμ*−Σₜ μ(aₜ)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F3FEB1-765D-4F73-9F0E-A31BD247B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104775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AF4F1"/>
          </a:solidFill>
          <a:ln xmlns:a="http://schemas.openxmlformats.org/drawingml/2006/main" w="9525">
            <a:solidFill>
              <a:srgbClr val="AFCFC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20F82D-1AEE-4027-AEBB-A20DE9A32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219575"/>
            <a:ext cx="1000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85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173852"/>
                </a:solidFill>
                <a:latin typeface="Times New Roman"/>
                <a:ea typeface="Times New Roman"/>
                <a:cs typeface="Times New Roman"/>
              </a:rPr>
              <a:t>UCBₜ(a)=Qₜ(a)+c√(ln t/Nₜ(a))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B5504B-B27F-4658-92A3-9F64A8E43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381625"/>
            <a:ext cx="1038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4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46B"/>
                </a:solidFill>
                <a:latin typeface="Arial"/>
                <a:ea typeface="Arial"/>
                <a:cs typeface="Arial"/>
              </a:rPr>
              <a:t>Regret измеряет цену неоптимальных действий; высокая награда сама по себе не показывает качество исследования.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0DF9B3-126B-4ECB-9FB4-510B706FE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1032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4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46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849271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5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ff3a595546427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A49E87-923A-4F16-A2B7-3FA893DF8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"/>
            <a:ext cx="96678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B6E"/>
          </a:solidFill>
          <a:ln xmlns:a="http://schemas.openxmlformats.org/drawingml/2006/main" w="0">
            <a:solidFill>
              <a:srgbClr val="286B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D65D9B-A545-4251-B2AE-2B9D477F8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"/>
            <a:ext cx="9667875" cy="590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86B6E"/>
          </a:solidFill>
          <a:ln xmlns:a="http://schemas.openxmlformats.org/drawingml/2006/main" w="0">
            <a:solidFill>
              <a:srgbClr val="286B6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48E5E9-138C-4063-B616-19D2BDBF2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4350"/>
            <a:ext cx="8524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Три стратегии exploration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D0B677-7386-407D-8F79-AA3E62581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6B6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86B6E"/>
                </a:solidFill>
                <a:latin typeface="Arial"/>
                <a:ea typeface="Arial"/>
                <a:cs typeface="Arial"/>
              </a:rPr>
              <a:t>Редактируемая архитектурная схема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C16BF2-C8F2-44C3-A8BE-2641816CD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428875"/>
            <a:ext cx="2000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86B6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3E15C7-AAA1-4EC6-910C-63D2E7618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600325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86B6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86B6E"/>
                </a:solidFill>
                <a:latin typeface="Arial"/>
                <a:ea typeface="Arial"/>
                <a:cs typeface="Arial"/>
              </a:rPr>
              <a:t>ε-greedy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E9075D-42FF-4B50-862D-70A1BFFE6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3038475"/>
            <a:ext cx="1733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392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случайное действие с вероятностью 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871235-6CB3-46C3-9227-DE3E58E1E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857500"/>
            <a:ext cx="266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9152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D6212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6212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F5650A-F4FB-4680-A2BA-A8F21EE91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428875"/>
            <a:ext cx="2000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86B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1831C5-41E1-4286-AC8B-C89B42FF4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600325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86B6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86B6E"/>
                </a:solidFill>
                <a:latin typeface="Arial"/>
                <a:ea typeface="Arial"/>
                <a:cs typeface="Arial"/>
              </a:rPr>
              <a:t>UCB1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C8E4A3-1E55-4E4B-B831-787613486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3038475"/>
            <a:ext cx="1733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оценка + бонус неопределённости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0719F9-79D3-4BF4-8466-BE934A934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857500"/>
            <a:ext cx="266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9152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D6212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6212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190966-BB99-4FB3-9722-C8B204775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428875"/>
            <a:ext cx="2000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7F4EC"/>
          </a:solidFill>
          <a:ln xmlns:a="http://schemas.openxmlformats.org/drawingml/2006/main" w="9525">
            <a:solidFill>
              <a:srgbClr val="2C8B62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E3C105-D2BA-40FA-A8B0-96F390023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600325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C8B6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C8B62"/>
                </a:solidFill>
                <a:latin typeface="Arial"/>
                <a:ea typeface="Arial"/>
                <a:cs typeface="Arial"/>
              </a:rPr>
              <a:t>Thompson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9EDEF9-F368-4FB7-AD32-9C7FD4059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3038475"/>
            <a:ext cx="1733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выборка из Beta posterior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453427-603B-4285-935C-F99E00454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291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Все стратегии получают один и тот же поток Bernoulli-наград и сравниваются по regret и доле оптимальных действий.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5ACC17-5E70-4015-8717-4F75C423B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1032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4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46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865570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5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0adea989ee4f2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523D16-CCC0-4AE3-9196-A5A767D08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"/>
            <a:ext cx="96678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B6E"/>
          </a:solidFill>
          <a:ln xmlns:a="http://schemas.openxmlformats.org/drawingml/2006/main" w="0">
            <a:solidFill>
              <a:srgbClr val="286B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58690F-2A2F-481B-ACE7-77815721E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"/>
            <a:ext cx="9667875" cy="590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86B6E"/>
          </a:solidFill>
          <a:ln xmlns:a="http://schemas.openxmlformats.org/drawingml/2006/main" w="0">
            <a:solidFill>
              <a:srgbClr val="286B6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FB0B3C-4AAB-4283-BB3D-93B9DF24A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4350"/>
            <a:ext cx="8524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Cross-Entropy Method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E6E673-2CB4-401A-A80E-123EF935F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6B6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86B6E"/>
                </a:solidFill>
                <a:latin typeface="Arial"/>
                <a:ea typeface="Arial"/>
                <a:cs typeface="Arial"/>
              </a:rPr>
              <a:t>Математическая основа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8F2784-ACBA-46C8-840F-656FCA367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104775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AF4F1"/>
          </a:solidFill>
          <a:ln xmlns:a="http://schemas.openxmlformats.org/drawingml/2006/main" w="9525">
            <a:solidFill>
              <a:srgbClr val="AFCFC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065F06-200E-4361-B2CC-AD4D2BEF9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838325"/>
            <a:ext cx="1000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85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173852"/>
                </a:solidFill>
                <a:latin typeface="Times New Roman"/>
                <a:ea typeface="Times New Roman"/>
                <a:cs typeface="Times New Roman"/>
              </a:rPr>
              <a:t>γᵢ=Quantile_q({G(τ₁),…,G(τ_N)})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A4E82F-AF0B-49A7-8E96-8B5B46996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05125"/>
            <a:ext cx="104775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DF3F8"/>
          </a:solidFill>
          <a:ln xmlns:a="http://schemas.openxmlformats.org/drawingml/2006/main" w="9525">
            <a:solidFill>
              <a:srgbClr val="AFC1D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CE2574-EC17-428D-A3F6-1F5E46263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028950"/>
            <a:ext cx="1000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85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173852"/>
                </a:solidFill>
                <a:latin typeface="Times New Roman"/>
                <a:ea typeface="Times New Roman"/>
                <a:cs typeface="Times New Roman"/>
              </a:rPr>
              <a:t>D_elite={(sₜ,aₜ)∈τᵢ | G(τᵢ)≥γᵢ}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C92F83-6E29-48C7-BEBB-DD0FC4E4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104775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AF4F1"/>
          </a:solidFill>
          <a:ln xmlns:a="http://schemas.openxmlformats.org/drawingml/2006/main" w="9525">
            <a:solidFill>
              <a:srgbClr val="AFCFC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ECC42A-85E6-4CD6-837A-B844BF6AB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219575"/>
            <a:ext cx="1000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85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173852"/>
                </a:solidFill>
                <a:latin typeface="Times New Roman"/>
                <a:ea typeface="Times New Roman"/>
                <a:cs typeface="Times New Roman"/>
              </a:rPr>
              <a:t>θᵢ₊₁=argmax_θ Σ_(s,a)∈D_elite log π_θ(a|s)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72E2FC-B711-4FEA-A9E0-21DBFBD9F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381625"/>
            <a:ext cx="1038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4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46B"/>
                </a:solidFill>
                <a:latin typeface="Arial"/>
                <a:ea typeface="Arial"/>
                <a:cs typeface="Arial"/>
              </a:rPr>
              <a:t>CEM превращает лучшие траектории в supervised-выборку для следующей версии политики.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DAC17F-A255-49AB-AA0E-8D2B1D87D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1032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4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46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4074977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5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ae5ea3d10f433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5F5734-2274-46AD-8BDB-C4697D35B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"/>
            <a:ext cx="96678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B6E"/>
          </a:solidFill>
          <a:ln xmlns:a="http://schemas.openxmlformats.org/drawingml/2006/main" w="0">
            <a:solidFill>
              <a:srgbClr val="286B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194097-57FD-4B49-8E4B-CE02B3ED0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"/>
            <a:ext cx="9667875" cy="590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86B6E"/>
          </a:solidFill>
          <a:ln xmlns:a="http://schemas.openxmlformats.org/drawingml/2006/main" w="0">
            <a:solidFill>
              <a:srgbClr val="286B6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68C43B-6D94-4F82-9686-280C9800F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4350"/>
            <a:ext cx="8524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Среда «собака и кость»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524625-D2C4-41C6-87FA-7D7D1366A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6B6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86B6E"/>
                </a:solidFill>
                <a:latin typeface="Arial"/>
                <a:ea typeface="Arial"/>
                <a:cs typeface="Arial"/>
              </a:rPr>
              <a:t>Редактируемая архитектурная схема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FB3E27-C521-4F8A-8558-BA6E50400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428875"/>
            <a:ext cx="2000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86B6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5D788D-D94F-4DA1-87AB-BCA748E2E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600325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86B6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86B6E"/>
                </a:solidFill>
                <a:latin typeface="Arial"/>
                <a:ea typeface="Arial"/>
                <a:cs typeface="Arial"/>
              </a:rPr>
              <a:t>Наблюдение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F6994E-C302-4FF2-A9DC-732DA18DF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038475"/>
            <a:ext cx="1733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позиция собаки и оставшиеся кости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A8E948-8DF2-4173-99B2-C58B42BCD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857500"/>
            <a:ext cx="266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9152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D6212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6212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29D2DC-996E-4B41-BFCD-C98993556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428875"/>
            <a:ext cx="2000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86B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C026AA-942B-4618-B0DC-6C8273639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600325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86B6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86B6E"/>
                </a:solidFill>
                <a:latin typeface="Arial"/>
                <a:ea typeface="Arial"/>
                <a:cs typeface="Arial"/>
              </a:rPr>
              <a:t>Политика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C0FD05-E464-4538-963A-5AE062683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38475"/>
            <a:ext cx="1733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23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4 / 8 / 12 вероятностей действий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4DE3A6-ED51-43AE-91F4-526AF08D6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857500"/>
            <a:ext cx="266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9152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D6212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6212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C0711F-3BFA-4A4A-8122-2AEF52C4B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28875"/>
            <a:ext cx="2000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86B6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3AFF60-6125-493C-B0A9-E56D9BBB0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00325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86B6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86B6E"/>
                </a:solidFill>
                <a:latin typeface="Arial"/>
                <a:ea typeface="Arial"/>
                <a:cs typeface="Arial"/>
              </a:rPr>
              <a:t>Среда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615335-9805-4BD5-92FF-2FD199410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38475"/>
            <a:ext cx="1733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переход, кость, граница поля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50144E-9022-4936-9F89-329C66BEF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57500"/>
            <a:ext cx="266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9152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D6212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6212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D6D788-63AE-46FD-98A9-17DCF3B70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28875"/>
            <a:ext cx="2000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7F4EC"/>
          </a:solidFill>
          <a:ln xmlns:a="http://schemas.openxmlformats.org/drawingml/2006/main" w="9525">
            <a:solidFill>
              <a:srgbClr val="2C8B62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D7F11C-4351-4342-A076-C3D9AE323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00325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C8B6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C8B62"/>
                </a:solidFill>
                <a:latin typeface="Arial"/>
                <a:ea typeface="Arial"/>
                <a:cs typeface="Arial"/>
              </a:rPr>
              <a:t>Награда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581E27-C434-4F99-B44D-45B29C41A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038475"/>
            <a:ext cx="1733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шаг, кость, супернаграда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2F70B6-5077-474D-BB48-85F7F5074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291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Увеличение пространства действий ускоряет кратчайший маршрут, но усложняет исследование и делает элитные эпизоды реже.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05A497-1E5D-46A8-B28E-25304C3A0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1032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4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46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34612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5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0ab11bfdb748d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20F338-83EB-45CD-B684-7FB6F463B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"/>
            <a:ext cx="96678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B6E"/>
          </a:solidFill>
          <a:ln xmlns:a="http://schemas.openxmlformats.org/drawingml/2006/main" w="0">
            <a:solidFill>
              <a:srgbClr val="286B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5DA463-B829-45AA-BFB7-2EF70A3C0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"/>
            <a:ext cx="9667875" cy="590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86B6E"/>
          </a:solidFill>
          <a:ln xmlns:a="http://schemas.openxmlformats.org/drawingml/2006/main" w="0">
            <a:solidFill>
              <a:srgbClr val="286B6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BC05C4-D714-4D67-924F-E850718E3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4350"/>
            <a:ext cx="8524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Пример результатов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1CFC76-492F-4B6E-AFD0-F095C9AE5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6B6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86B6E"/>
                </a:solidFill>
                <a:latin typeface="Arial"/>
                <a:ea typeface="Arial"/>
                <a:cs typeface="Arial"/>
              </a:rPr>
              <a:t>Сравнение на одинаковых данных и временных границах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4BC749-6961-44EA-A0E1-6FC0AF63F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975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B6E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B74EB8-643C-4666-A11A-2B9E72CB4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857375"/>
            <a:ext cx="2990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Эксперимент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6D8A40-43D1-4F4D-ABB0-EC0632A13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18097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B6E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C35FA2-2C9A-4BFC-AE85-E65F63CE6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1857375"/>
            <a:ext cx="2228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Параметр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F0B886-070B-4E12-B78E-6762D8149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8097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B6E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92431E-1097-414B-AEED-7AFF9C886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857375"/>
            <a:ext cx="2228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Метрика 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34DFDF-F4EE-4844-BDF9-8AC77230B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8097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B6E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CFC500-C133-4C4E-981B-5E5930E46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1857375"/>
            <a:ext cx="2228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Метрика 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4A8643-751F-4BE5-9CF6-DE3CE548E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6220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7C9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DBD3AC-4396-4BC2-8967-982C633BB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400300"/>
            <a:ext cx="2990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32A"/>
                </a:solidFill>
                <a:latin typeface="Arial"/>
                <a:ea typeface="Arial"/>
                <a:cs typeface="Arial"/>
              </a:rPr>
              <a:t>Thompson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FA726B-68D1-4EF1-8DCF-8BB420251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3622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7C9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B50811-1D70-4059-8A84-8E7EA2D2B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2400300"/>
            <a:ext cx="2228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1000 шагов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B59EE9-F0EE-4C8B-B95E-110E33954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3622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7C9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1898AB-C8EA-4CA5-B1D2-6A8F2773C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400300"/>
            <a:ext cx="2228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regret 18,6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363CF3-3438-4B14-9C91-58D6C8C8F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3622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7C9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A6ECDA-8AE6-477E-B50E-2CD4C377F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400300"/>
            <a:ext cx="2228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optimal 91%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DD94AE-22EC-45C9-8F3B-BFEA1F299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91465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4"/>
          </a:solidFill>
          <a:ln xmlns:a="http://schemas.openxmlformats.org/drawingml/2006/main" w="9525">
            <a:solidFill>
              <a:srgbClr val="B9C7C9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315B60-0293-4FF4-9DD7-88FDEB2B5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952750"/>
            <a:ext cx="2990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32A"/>
                </a:solidFill>
                <a:latin typeface="Arial"/>
                <a:ea typeface="Arial"/>
                <a:cs typeface="Arial"/>
              </a:rPr>
              <a:t>UCB1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322ADA-D1C2-4F2E-9F3D-F1B42542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9146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4"/>
          </a:solidFill>
          <a:ln xmlns:a="http://schemas.openxmlformats.org/drawingml/2006/main" w="9525">
            <a:solidFill>
              <a:srgbClr val="B9C7C9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772978-C8A2-4CCF-8206-7D7D0ED91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2952750"/>
            <a:ext cx="2228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1000 шагов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54ADDB-D977-4F69-9110-D0318825A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9146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4"/>
          </a:solidFill>
          <a:ln xmlns:a="http://schemas.openxmlformats.org/drawingml/2006/main" w="9525">
            <a:solidFill>
              <a:srgbClr val="B9C7C9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CA548C-30EF-4C08-8DCB-E255C7C57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952750"/>
            <a:ext cx="2228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regret 31,4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4DEF2F8-573E-4BB5-A13C-396B0BFA5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9146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4"/>
          </a:solidFill>
          <a:ln xmlns:a="http://schemas.openxmlformats.org/drawingml/2006/main" w="9525">
            <a:solidFill>
              <a:srgbClr val="B9C7C9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A6DD66D-8C92-4E26-A96A-D3A6DD017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952750"/>
            <a:ext cx="2228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optimal 84%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A70CBE8-16CD-4C5A-9D4C-77FD2FE5F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6710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7C9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20A72A2-BC11-4F5B-8A36-49ABADC46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505200"/>
            <a:ext cx="2990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32A"/>
                </a:solidFill>
                <a:latin typeface="Arial"/>
                <a:ea typeface="Arial"/>
                <a:cs typeface="Arial"/>
              </a:rPr>
              <a:t>CEM-8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E54AE21-3180-4432-AB5A-5778ECBF0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4671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7C9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B79F3D5-76B6-413C-BEC0-CC55CA172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3505200"/>
            <a:ext cx="2228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N=100, q=75%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50D1781-987F-4625-8DD2-8AF9204AF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4671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7C9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92C803E-7B0E-4CF4-82F5-FDDDA2C6E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505200"/>
            <a:ext cx="2228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success 92%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2769103-BE4D-4C25-86DD-B044D5F6E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4671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7C9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8F310A1-CA2A-4592-A8E7-0044A5E4F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505200"/>
            <a:ext cx="2228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15,4 хода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5E5F8B6-F5FB-4FB2-BA8D-E985D4AC3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1955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4"/>
          </a:solidFill>
          <a:ln xmlns:a="http://schemas.openxmlformats.org/drawingml/2006/main" w="9525">
            <a:solidFill>
              <a:srgbClr val="B9C7C9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9929260-48A9-4DBF-9E82-F5E6CB416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057650"/>
            <a:ext cx="2990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32A"/>
                </a:solidFill>
                <a:latin typeface="Arial"/>
                <a:ea typeface="Arial"/>
                <a:cs typeface="Arial"/>
              </a:rPr>
              <a:t>CEM-12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697112D-14AE-40D8-BEB8-0F1DE64C8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0195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4"/>
          </a:solidFill>
          <a:ln xmlns:a="http://schemas.openxmlformats.org/drawingml/2006/main" w="9525">
            <a:solidFill>
              <a:srgbClr val="B9C7C9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88D9E47-244D-410F-9713-3B3D171B9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4057650"/>
            <a:ext cx="2228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N=100, q=75%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1DD1BFC-3D82-4452-B0D6-97688CF2A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0195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4"/>
          </a:solidFill>
          <a:ln xmlns:a="http://schemas.openxmlformats.org/drawingml/2006/main" w="9525">
            <a:solidFill>
              <a:srgbClr val="B9C7C9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3F86F2A-FD13-4680-AD3B-31D5FFB3B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057650"/>
            <a:ext cx="2228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success 71%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D11D516-5633-4807-B47A-B8A12497B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195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4"/>
          </a:solidFill>
          <a:ln xmlns:a="http://schemas.openxmlformats.org/drawingml/2006/main" w="9525">
            <a:solidFill>
              <a:srgbClr val="B9C7C9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7672C82-213E-47B2-98FE-207B31236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057650"/>
            <a:ext cx="2228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17,2 хода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14FD790-9433-4F0C-9CA0-3F877E6E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1032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4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46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493526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5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ad96b0119f4f7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476E4F-D9F9-434D-9936-BEB4B9C02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"/>
            <a:ext cx="96678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B6E"/>
          </a:solidFill>
          <a:ln xmlns:a="http://schemas.openxmlformats.org/drawingml/2006/main" w="0">
            <a:solidFill>
              <a:srgbClr val="286B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B7A350-12BE-4CAB-B559-41F274B40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"/>
            <a:ext cx="9667875" cy="590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86B6E"/>
          </a:solidFill>
          <a:ln xmlns:a="http://schemas.openxmlformats.org/drawingml/2006/main" w="0">
            <a:solidFill>
              <a:srgbClr val="286B6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1698DB-764E-48FE-8853-096C49AF1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4350"/>
            <a:ext cx="8524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Одна итерация CEM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98F9D5-45DC-48A7-800A-E961D9FD6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6B6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86B6E"/>
                </a:solidFill>
                <a:latin typeface="Arial"/>
                <a:ea typeface="Arial"/>
                <a:cs typeface="Arial"/>
              </a:rPr>
              <a:t>Фрагмент, который студент должен уметь объяснить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E811B1-E87A-4C26-AA0B-9CBFDDA9D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6762750" cy="390525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101B2A"/>
          </a:solidFill>
          <a:ln xmlns:a="http://schemas.openxmlformats.org/drawingml/2006/main" w="9525">
            <a:solidFill>
              <a:srgbClr val="101B2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DE9978-EF0E-41DC-AF1A-C866E9DAB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85950"/>
            <a:ext cx="6334125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2F7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AF2F7"/>
                </a:solidFill>
                <a:latin typeface="Consolas"/>
                <a:ea typeface="Consolas"/>
                <a:cs typeface="Consolas"/>
              </a:rPr>
              <a:t>sessions = [generate(env, policy)</a:t>
            </a:r>
          </a:p>
          <a:p xmlns:a="http://schemas.openxmlformats.org/drawingml/2006/main">
            <a:pPr algn="l">
              <a:defRPr sz="1275" b="0">
                <a:solidFill>
                  <a:srgbClr val="EAF2F7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AF2F7"/>
                </a:solidFill>
                <a:latin typeface="Consolas"/>
                <a:ea typeface="Consolas"/>
                <a:cs typeface="Consolas"/>
              </a:rPr>
              <a:t>            for _ in range(batch)]</a:t>
            </a:r>
          </a:p>
          <a:p xmlns:a="http://schemas.openxmlformats.org/drawingml/2006/main">
            <a:pPr algn="l">
              <a:defRPr sz="1275" b="0">
                <a:solidFill>
                  <a:srgbClr val="EAF2F7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AF2F7"/>
                </a:solidFill>
                <a:latin typeface="Consolas"/>
                <a:ea typeface="Consolas"/>
                <a:cs typeface="Consolas"/>
              </a:rPr>
              <a:t>threshold = np.quantile(returns, q)</a:t>
            </a:r>
          </a:p>
          <a:p xmlns:a="http://schemas.openxmlformats.org/drawingml/2006/main">
            <a:pPr algn="l">
              <a:defRPr sz="1275" b="0">
                <a:solidFill>
                  <a:srgbClr val="EAF2F7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AF2F7"/>
                </a:solidFill>
                <a:latin typeface="Consolas"/>
                <a:ea typeface="Consolas"/>
                <a:cs typeface="Consolas"/>
              </a:rPr>
              <a:t>elite = [s for s in sessions</a:t>
            </a:r>
          </a:p>
          <a:p xmlns:a="http://schemas.openxmlformats.org/drawingml/2006/main">
            <a:pPr algn="l">
              <a:defRPr sz="1275" b="0">
                <a:solidFill>
                  <a:srgbClr val="EAF2F7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AF2F7"/>
                </a:solidFill>
                <a:latin typeface="Consolas"/>
                <a:ea typeface="Consolas"/>
                <a:cs typeface="Consolas"/>
              </a:rPr>
              <a:t>         if s.reward &gt;= threshold]</a:t>
            </a:r>
          </a:p>
          <a:p xmlns:a="http://schemas.openxmlformats.org/drawingml/2006/main">
            <a:pPr algn="l">
              <a:defRPr sz="1275" b="0">
                <a:solidFill>
                  <a:srgbClr val="EAF2F7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AF2F7"/>
                </a:solidFill>
                <a:latin typeface="Consolas"/>
                <a:ea typeface="Consolas"/>
                <a:cs typeface="Consolas"/>
              </a:rPr>
              <a:t>policy.fit(states(elite), actions(elite))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B29C2B-4138-4AA0-9FAF-74754BA3C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714500"/>
            <a:ext cx="3714750" cy="39052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2F7F7"/>
          </a:solidFill>
          <a:ln xmlns:a="http://schemas.openxmlformats.org/drawingml/2006/main" w="9525">
            <a:solidFill>
              <a:srgbClr val="B4C9C9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7DA981-3313-4953-883D-782555493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4310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86B6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86B6E"/>
                </a:solidFill>
                <a:latin typeface="Arial"/>
                <a:ea typeface="Arial"/>
                <a:cs typeface="Arial"/>
              </a:rPr>
              <a:t>Что происходит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5D9050-7DFB-4C8A-99C5-E80E31B53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57450"/>
            <a:ext cx="3238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1. Политика генерирует траектории.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2. Квантиль задаёт порог.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3. Из элитных траекторий берутся пары (s,a).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4. Политика максимизирует их log-likelihood.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7A57BA-53E7-4948-9F84-E0CDC99FE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1032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4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46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49068553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5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70154ab87244c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6BA648-CDAE-4181-9F6E-1D1FD452E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"/>
            <a:ext cx="96678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B6E"/>
          </a:solidFill>
          <a:ln xmlns:a="http://schemas.openxmlformats.org/drawingml/2006/main" w="0">
            <a:solidFill>
              <a:srgbClr val="286B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AB0E0D-7343-4366-A164-E05E8EE04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"/>
            <a:ext cx="9667875" cy="590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86B6E"/>
          </a:solidFill>
          <a:ln xmlns:a="http://schemas.openxmlformats.org/drawingml/2006/main" w="0">
            <a:solidFill>
              <a:srgbClr val="286B6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BF01AF-6B2E-4A07-9415-B8F4A924D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4350"/>
            <a:ext cx="8524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Мини-тест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201071-8615-4A31-8C32-303D6DAD3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6B6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86B6E"/>
                </a:solidFill>
                <a:latin typeface="Arial"/>
                <a:ea typeface="Arial"/>
                <a:cs typeface="Arial"/>
              </a:rPr>
              <a:t>Сначала ответьте без подсказок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9F0A2C-B341-46BB-830E-3E8F8FA7A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04775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• 1. Что уменьшает cumulative regret?  A) частые случайные действия  B) быстрое выявление лучшей руки  C) рост дисперсии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• 2. Почему q=95% может остановить CEM?  A) мало элиты  B) слишком много действий  C) нет reward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• 3. Что сравнивать между 4, 8 и 12 действиями?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62F75D-D8AC-4E6F-8F4A-836BDF101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1032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4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46B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56673412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5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c9767612b1416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03575A-39C9-4D94-80BB-852284F82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"/>
            <a:ext cx="96678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B6E"/>
          </a:solidFill>
          <a:ln xmlns:a="http://schemas.openxmlformats.org/drawingml/2006/main" w="0">
            <a:solidFill>
              <a:srgbClr val="286B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63555C-98F5-4062-98C5-61919A63E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"/>
            <a:ext cx="9667875" cy="590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86B6E"/>
          </a:solidFill>
          <a:ln xmlns:a="http://schemas.openxmlformats.org/drawingml/2006/main" w="0">
            <a:solidFill>
              <a:srgbClr val="286B6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CF50B4-8CE4-456D-A870-79FE05B9F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4350"/>
            <a:ext cx="8524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Разбор мини-теста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58562B-5C56-4E8F-B8C7-00EDC9C8D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6B6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86B6E"/>
                </a:solidFill>
                <a:latin typeface="Arial"/>
                <a:ea typeface="Arial"/>
                <a:cs typeface="Arial"/>
              </a:rPr>
              <a:t>Проверьте рассуждение, а не только букву ответа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54A79F-1AA1-4FAF-B956-02C263932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04775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• 1. B: лучшая рука должна чаще выбираться после достаточного исследования.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• 2. A: слишком мало пар (s,a) делает обновление нестабильным.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• 3. Success rate, возврат, длину маршрута, частоты действий и устойчивость по seed.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EF4526-D734-4BB5-9522-2F1A99FAD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1032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4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46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1385000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5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dd4bb763c3489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9C93D1-C2A5-4B20-B030-48E1450A1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"/>
            <a:ext cx="96678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B6E"/>
          </a:solidFill>
          <a:ln xmlns:a="http://schemas.openxmlformats.org/drawingml/2006/main" w="0">
            <a:solidFill>
              <a:srgbClr val="286B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D9344D-A039-47C0-AA20-0D71C0E97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"/>
            <a:ext cx="9667875" cy="590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86B6E"/>
          </a:solidFill>
          <a:ln xmlns:a="http://schemas.openxmlformats.org/drawingml/2006/main" w="0">
            <a:solidFill>
              <a:srgbClr val="286B6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3AEFCC-3011-474D-9846-4C4922427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4350"/>
            <a:ext cx="8524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Выводы и переход к лабораторной №2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CE169F-7040-4152-B6FF-6E72C82E4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6B6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86B6E"/>
                </a:solidFill>
                <a:latin typeface="Arial"/>
                <a:ea typeface="Arial"/>
                <a:cs typeface="Arial"/>
              </a:rPr>
              <a:t>От малых задач к временному ряду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5EEBED-28E2-45A6-B667-10C48589B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103822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• Бандит показывает цену исследования без состояния.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• CEM вводит траекторию и параметризованную политику.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• В лабораторной №2 состояние уже формируется из реальных финансовых показателей.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• Исследовательская дисциплина сохраняется: гипотеза → validation → один финальный test.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46F2BD-CB49-4CC3-A0BA-6F9B28ADA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1032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4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46B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5268855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2026-09-20T19:20:10.4910000Z</dcterms:created>
  <dcterms:modified xsi:type="dcterms:W3CDTF">2026-09-20T19:20:10.4910000Z</dcterms:modified>
</coreProperties>
</file>
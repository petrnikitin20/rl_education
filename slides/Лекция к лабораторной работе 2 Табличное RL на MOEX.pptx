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b2fc4c557e4a41" /><Relationship Type="http://schemas.openxmlformats.org/officeDocument/2006/relationships/extended-properties" Target="/docProps/app.xml" Id="Rcdca7f3899534491" /><Relationship Type="http://schemas.openxmlformats.org/officeDocument/2006/relationships/officeDocument" Target="/ppt/presentation.xml" Id="R197e56c97cf14e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a83035393e4927"/>
  </p:sldMasterIdLst>
  <p:notesMasterIdLst>
    <p:notesMasterId xmlns:r="http://schemas.openxmlformats.org/officeDocument/2006/relationships" r:id="Rd56cc9e3a4624d8c"/>
  </p:notesMasterIdLst>
  <p:sldIdLst>
    <p:sldId xmlns:r="http://schemas.openxmlformats.org/officeDocument/2006/relationships" id="256" r:id="Rfd1795148ac64167"/>
    <p:sldId xmlns:r="http://schemas.openxmlformats.org/officeDocument/2006/relationships" id="257" r:id="R6fce4d42eb714376"/>
    <p:sldId xmlns:r="http://schemas.openxmlformats.org/officeDocument/2006/relationships" id="258" r:id="R9a11d4e60d394594"/>
    <p:sldId xmlns:r="http://schemas.openxmlformats.org/officeDocument/2006/relationships" id="259" r:id="Ra55d81d811d049f4"/>
    <p:sldId xmlns:r="http://schemas.openxmlformats.org/officeDocument/2006/relationships" id="260" r:id="Rd81960b0c158462b"/>
    <p:sldId xmlns:r="http://schemas.openxmlformats.org/officeDocument/2006/relationships" id="261" r:id="R8a17fd5a56dc42d1"/>
    <p:sldId xmlns:r="http://schemas.openxmlformats.org/officeDocument/2006/relationships" id="262" r:id="R9bfc46a1b1d749ca"/>
    <p:sldId xmlns:r="http://schemas.openxmlformats.org/officeDocument/2006/relationships" id="263" r:id="R29c99d0fba2544af"/>
    <p:sldId xmlns:r="http://schemas.openxmlformats.org/officeDocument/2006/relationships" id="264" r:id="R6d8451a28eda49db"/>
    <p:sldId xmlns:r="http://schemas.openxmlformats.org/officeDocument/2006/relationships" id="265" r:id="R43a790aa776f4617"/>
    <p:sldId xmlns:r="http://schemas.openxmlformats.org/officeDocument/2006/relationships" id="266" r:id="R8721b2f8c6ae44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3cbb36b957413a" /><Relationship Type="http://schemas.openxmlformats.org/officeDocument/2006/relationships/slideMaster" Target="/ppt/slideMasters/slideMaster1.xml" Id="R7aa83035393e4927" /><Relationship Type="http://schemas.openxmlformats.org/officeDocument/2006/relationships/notesMaster" Target="/ppt/notesMasters/notesMaster1.xml" Id="Rd56cc9e3a4624d8c" /><Relationship Type="http://schemas.openxmlformats.org/officeDocument/2006/relationships/presProps" Target="/ppt/presProps.xml" Id="R2b7e5b8d17a242a8" /><Relationship Type="http://schemas.openxmlformats.org/officeDocument/2006/relationships/tableStyles" Target="/ppt/tableStyles.xml" Id="R1b2c277c43ad4c15" /><Relationship Type="http://schemas.openxmlformats.org/officeDocument/2006/relationships/slide" Target="/ppt/slides/slide1.xml" Id="Rfd1795148ac64167" /><Relationship Type="http://schemas.openxmlformats.org/officeDocument/2006/relationships/slide" Target="/ppt/slides/slide2.xml" Id="R6fce4d42eb714376" /><Relationship Type="http://schemas.openxmlformats.org/officeDocument/2006/relationships/slide" Target="/ppt/slides/slide3.xml" Id="R9a11d4e60d394594" /><Relationship Type="http://schemas.openxmlformats.org/officeDocument/2006/relationships/slide" Target="/ppt/slides/slide4.xml" Id="Ra55d81d811d049f4" /><Relationship Type="http://schemas.openxmlformats.org/officeDocument/2006/relationships/slide" Target="/ppt/slides/slide5.xml" Id="Rd81960b0c158462b" /><Relationship Type="http://schemas.openxmlformats.org/officeDocument/2006/relationships/slide" Target="/ppt/slides/slide6.xml" Id="R8a17fd5a56dc42d1" /><Relationship Type="http://schemas.openxmlformats.org/officeDocument/2006/relationships/slide" Target="/ppt/slides/slide7.xml" Id="R9bfc46a1b1d749ca" /><Relationship Type="http://schemas.openxmlformats.org/officeDocument/2006/relationships/slide" Target="/ppt/slides/slide8.xml" Id="R29c99d0fba2544af" /><Relationship Type="http://schemas.openxmlformats.org/officeDocument/2006/relationships/slide" Target="/ppt/slides/slide9.xml" Id="R6d8451a28eda49db" /><Relationship Type="http://schemas.openxmlformats.org/officeDocument/2006/relationships/slide" Target="/ppt/slides/slide10.xml" Id="R43a790aa776f4617" /><Relationship Type="http://schemas.openxmlformats.org/officeDocument/2006/relationships/slide" Target="/ppt/slides/slide11.xml" Id="R8721b2f8c6ae44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3b60b19b224a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12d0150e20435c" /><Relationship Type="http://schemas.openxmlformats.org/officeDocument/2006/relationships/notesMaster" Target="/ppt/notesMasters/notesMaster1.xml" Id="Rfcab847a70e641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f07d43c265440f" /><Relationship Type="http://schemas.openxmlformats.org/officeDocument/2006/relationships/notesMaster" Target="/ppt/notesMasters/notesMaster1.xml" Id="R2a789de826064b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ddd81aeef34256" /><Relationship Type="http://schemas.openxmlformats.org/officeDocument/2006/relationships/notesMaster" Target="/ppt/notesMasters/notesMaster1.xml" Id="Ra5fddd87adde43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bd29c5102843d1" /><Relationship Type="http://schemas.openxmlformats.org/officeDocument/2006/relationships/notesMaster" Target="/ppt/notesMasters/notesMaster1.xml" Id="R89b389ddaae545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e83e79d63c4981" /><Relationship Type="http://schemas.openxmlformats.org/officeDocument/2006/relationships/notesMaster" Target="/ppt/notesMasters/notesMaster1.xml" Id="Re25dfeeb0c2744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d3361d4e874413" /><Relationship Type="http://schemas.openxmlformats.org/officeDocument/2006/relationships/notesMaster" Target="/ppt/notesMasters/notesMaster1.xml" Id="R5ec40559ad5448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28389e186e41ff" /><Relationship Type="http://schemas.openxmlformats.org/officeDocument/2006/relationships/notesMaster" Target="/ppt/notesMasters/notesMaster1.xml" Id="Rb7cb1af9bd114c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c0b32638cc4e54" /><Relationship Type="http://schemas.openxmlformats.org/officeDocument/2006/relationships/notesMaster" Target="/ppt/notesMasters/notesMaster1.xml" Id="Raffb442823194e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4f0a5c54a24df1" /><Relationship Type="http://schemas.openxmlformats.org/officeDocument/2006/relationships/notesMaster" Target="/ppt/notesMasters/notesMaster1.xml" Id="R723c017a0d6b47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3ffbbe5bbc4a05" /><Relationship Type="http://schemas.openxmlformats.org/officeDocument/2006/relationships/notesMaster" Target="/ppt/notesMasters/notesMaster1.xml" Id="R6dd02ec117414a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7d8c43c8d041d8" /><Relationship Type="http://schemas.openxmlformats.org/officeDocument/2006/relationships/notesMaster" Target="/ppt/notesMasters/notesMaster1.xml" Id="R5e657a8e6f194e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4bd4cdd4314e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002dacc8134e85" /><Relationship Type="http://schemas.openxmlformats.org/officeDocument/2006/relationships/slideLayout" Target="/ppt/slideLayouts/slideLayout1.xml" Id="Rb7a8ca64c08749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a8ca64c08749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2aa2b084347c5" /><Relationship Type="http://schemas.openxmlformats.org/officeDocument/2006/relationships/image" Target="/ppt/media/image.png" Id="R68c6de0706bd447c" /><Relationship Type="http://schemas.openxmlformats.org/officeDocument/2006/relationships/notesSlide" Target="/ppt/notesSlides/notesSlide1.xml" Id="R41410c83b1e64c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b3871b8984aea" /><Relationship Type="http://schemas.openxmlformats.org/officeDocument/2006/relationships/image" Target="/ppt/media/image2.png" Id="R3d88867da90d4fce" /><Relationship Type="http://schemas.openxmlformats.org/officeDocument/2006/relationships/notesSlide" Target="/ppt/notesSlides/notesSlide2.xml" Id="R0af726c8884c4c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23777d4784118" /><Relationship Type="http://schemas.openxmlformats.org/officeDocument/2006/relationships/image" Target="/ppt/media/image3.png" Id="Rff74f90b7ec144d5" /><Relationship Type="http://schemas.openxmlformats.org/officeDocument/2006/relationships/notesSlide" Target="/ppt/notesSlides/notesSlide3.xml" Id="Re4fcbf792d3740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6f3e9835c4641" /><Relationship Type="http://schemas.openxmlformats.org/officeDocument/2006/relationships/image" Target="/ppt/media/image4.png" Id="R1154dc702d3c4ac5" /><Relationship Type="http://schemas.openxmlformats.org/officeDocument/2006/relationships/notesSlide" Target="/ppt/notesSlides/notesSlide4.xml" Id="R14a3ad2d10e74d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7cd7c4be842b2" /><Relationship Type="http://schemas.openxmlformats.org/officeDocument/2006/relationships/image" Target="/ppt/media/image5.png" Id="Rdd4f6f3beb2d40f5" /><Relationship Type="http://schemas.openxmlformats.org/officeDocument/2006/relationships/notesSlide" Target="/ppt/notesSlides/notesSlide5.xml" Id="R923b954225d74b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b934021a9454b" /><Relationship Type="http://schemas.openxmlformats.org/officeDocument/2006/relationships/image" Target="/ppt/media/image6.png" Id="R4c5871eed8e04e35" /><Relationship Type="http://schemas.openxmlformats.org/officeDocument/2006/relationships/notesSlide" Target="/ppt/notesSlides/notesSlide6.xml" Id="Rd8254f3cc3744b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bca088f424719" /><Relationship Type="http://schemas.openxmlformats.org/officeDocument/2006/relationships/image" Target="/ppt/media/image7.png" Id="R1600dd2cb0954252" /><Relationship Type="http://schemas.openxmlformats.org/officeDocument/2006/relationships/notesSlide" Target="/ppt/notesSlides/notesSlide7.xml" Id="Rc8c4ebc663ab4c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b8282ab6d461a" /><Relationship Type="http://schemas.openxmlformats.org/officeDocument/2006/relationships/image" Target="/ppt/media/image8.png" Id="Rae91b587a1cd477c" /><Relationship Type="http://schemas.openxmlformats.org/officeDocument/2006/relationships/notesSlide" Target="/ppt/notesSlides/notesSlide8.xml" Id="R92772575fddd44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abbc63f274b0c" /><Relationship Type="http://schemas.openxmlformats.org/officeDocument/2006/relationships/image" Target="/ppt/media/image9.png" Id="R131d781db17c40f2" /><Relationship Type="http://schemas.openxmlformats.org/officeDocument/2006/relationships/notesSlide" Target="/ppt/notesSlides/notesSlide9.xml" Id="R064dc4ab58834d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cddbc3ec04f45" /><Relationship Type="http://schemas.openxmlformats.org/officeDocument/2006/relationships/image" Target="/ppt/media/image10.png" Id="Rd42d61e9a2034598" /><Relationship Type="http://schemas.openxmlformats.org/officeDocument/2006/relationships/notesSlide" Target="/ppt/notesSlides/notesSlide10.xml" Id="Rb0f86fe5dbb64b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11e7d29794701" /><Relationship Type="http://schemas.openxmlformats.org/officeDocument/2006/relationships/image" Target="/ppt/media/image11.png" Id="Rf6bac725484048ff" /><Relationship Type="http://schemas.openxmlformats.org/officeDocument/2006/relationships/notesSlide" Target="/ppt/notesSlides/notesSlide11.xml" Id="Ra7347023d1524b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c6de0706bd447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AC9A0-ED09-4B34-AD44-1CB9EF1F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AABE6-5B2C-40D7-BC4A-6C48ECE2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6A2C4-1947-4DB2-9AB3-0C55D7B1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Лабораторная №2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70EBC-DD3E-422A-A6FC-32EB2A01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BC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DE556-EA26-470F-A805-95864694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614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21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62128"/>
                </a:solidFill>
                <a:latin typeface="Arial"/>
                <a:ea typeface="Arial"/>
                <a:cs typeface="Arial"/>
              </a:rPr>
              <a:t>ЛЕКЦИЯ К ЛАБОРАТОРНОЙ РАБОТЕ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467383-8EA8-41B6-8D56-48E97481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6143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Q-learning, SARSA и Expected SARSA на данных MOEX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175E5-3BA5-47C5-94FC-7ECFF6A0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Никитин Пётр Владимирович</a:t>
            </a:r>
          </a:p>
          <a:p xmlns:a="http://schemas.openxmlformats.org/drawingml/2006/main">
            <a:pPr algn="l">
              <a:defRPr sz="1500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Кафедра искусственного интеллекта</a:t>
            </a:r>
          </a:p>
          <a:p xmlns:a="http://schemas.openxmlformats.org/drawingml/2006/main">
            <a:pPr algn="l">
              <a:defRPr sz="1500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Финансовый университет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B49E5-D3A5-4968-B618-5C5F2B8D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095625" cy="309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9525">
            <a:solidFill>
              <a:srgbClr val="286B6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E7078-1560-47E6-B72E-442EED8D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3095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B34EF-F88C-4B45-B88A-EA26DA1A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2428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теория → эксперимент → вывод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431A4-DCAA-4378-ABDE-F2418F54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50660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8867da90d4f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8988F-5A7E-472F-A540-4AB9FD40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7298B-0497-4988-80DF-86032522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46C76-3B10-40E2-BDDE-277FEFE5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Результаты обучения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D808B-598F-4DC2-9ECB-3F637F78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Что студент должен уметь после работы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67382-4F01-4514-A677-73F3E4BF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435350" cy="3714750"/>
          </a:xfrm>
          <a:prstGeom xmlns:a="http://schemas.openxmlformats.org/drawingml/2006/main" prst="roundRect">
            <a:avLst>
              <a:gd name="adj" fmla="val 22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2D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480AB-7988-468E-B374-4C8DE3E5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301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TD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48A96-131C-4175-89A3-FCBEF3A3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3016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Вывести три TD-цели и различить on-policy и off-policy.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B6B33-6108-4633-82E5-60407985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714500"/>
            <a:ext cx="3435350" cy="3714750"/>
          </a:xfrm>
          <a:prstGeom xmlns:a="http://schemas.openxmlformats.org/drawingml/2006/main" prst="roundRect">
            <a:avLst>
              <a:gd name="adj" fmla="val 2218"/>
            </a:avLst>
          </a:prstGeom>
          <a:solidFill xmlns:a="http://schemas.openxmlformats.org/drawingml/2006/main">
            <a:srgbClr val="F3F7F7"/>
          </a:solidFill>
          <a:ln xmlns:a="http://schemas.openxmlformats.org/drawingml/2006/main" w="9525">
            <a:solidFill>
              <a:srgbClr val="C5D2D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576F5-CA98-4E05-8020-BB39A175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1905000"/>
            <a:ext cx="301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Финансы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791DC-E839-42FA-ADF3-37427DF2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2495550"/>
            <a:ext cx="3016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Построить причинные показатели без утечки будущего.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418CF-6328-418E-B5E1-378E31FB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714500"/>
            <a:ext cx="3435350" cy="3714750"/>
          </a:xfrm>
          <a:prstGeom xmlns:a="http://schemas.openxmlformats.org/drawingml/2006/main" prst="roundRect">
            <a:avLst>
              <a:gd name="adj" fmla="val 22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2D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26D56F-F52D-4FE6-B3E3-7753DF09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905000"/>
            <a:ext cx="301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Эксперимент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5D5F9-5AD6-46EB-98A0-F0E7C9DE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495550"/>
            <a:ext cx="3016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Сравнить алгоритмы на одном test 2025 с комиссией.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07C9CC-C6D1-4F97-BFBF-CEFCB291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655840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4f90b7ec144d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2D50C-F4CD-4EE7-81C3-64C7C8FC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D3CCC-DEA7-4A0D-9866-C6903F0E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C841A-5DC0-4F9A-9C23-828E1AF1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Три TD-цели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876CA-660C-49C1-9BA9-C07271C9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Математическая основа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2790B-2D4E-4D26-89CB-2257FBF6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AFCFC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4BCD2-A44E-4E00-940A-77E63457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3832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Q-learning: y=r+γ max_a′Q(s′,a′)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667D7-7251-4FD4-AFE6-9143D338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AFC1D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08F51-3B51-44E3-B2C1-E9894D92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2895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SARSA: y=r+γQ(s′,a′),  a′~π(·|s′)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639F6-CAE3-41AA-9D17-5583A3D2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47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AFCF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8A63EE-88A3-4F72-A64F-E71BB561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1957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Expected SARSA: y=r+γΣ_a′π(a′|s′)Q(s′,a′)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0B620-B184-41EA-90AA-B8FB6D23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81625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Общее обновление: Q(s,a)←Q(s,a)+α[y−Q(s,a)]. Различается только bootstrap.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ACCC6-06AD-42DD-B355-19690874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935292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4dc702d3c4ac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72E59-235B-484D-A95A-8D28F703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BCE30-26BF-40F8-9992-F8C5DC23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90C00-BAF3-436E-AA33-DC298329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Контур табличного агента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6A064-5933-4C8D-90D9-07EC0BB2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Редактируемая архитектурная схема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A9F91-5407-4779-B4DE-B9E90C8D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86B6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31FB7-3BE2-4436-A0BC-80AC421A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MOEX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748D2-23A2-48F1-AC94-95354F73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OHLCV, оборот, дата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EC0C1A-C479-4CCC-B77C-4A2D2E04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57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621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21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1583A-73B9-4BED-9E72-78557B27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86B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237D8-B7B8-4E36-843C-A7B6D947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Признаки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CBE4E-0AF2-4AB0-BA8A-6CAA01C3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RSI, MACD, ATR, vol, momentum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709A7-6A6B-4FE2-9C90-DF8ACA28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57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621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21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7CF5EC-7660-4057-9F0F-C87C662B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86B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FF901-6151-4D42-BDFA-3FAE2FF4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Дискретизация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99283A-205B-4478-A5ED-1AA7FF36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bin 0 / 1 / 2 + позиция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6F967-ABAB-41CF-AF91-DBB921DA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621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21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A308C-070A-4532-968D-643E7B1C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2C8B6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7D4B0F-FFBC-4B4F-8D67-E8AA2873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C8B6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8B62"/>
                </a:solidFill>
                <a:latin typeface="Arial"/>
                <a:ea typeface="Arial"/>
                <a:cs typeface="Arial"/>
              </a:rPr>
              <a:t>Q-таблица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901266-0AEE-4A2E-871F-2266BC35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CASH или LONG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BC3240-B992-4F28-8A06-C3201C48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Состояние должно быть достаточно компактным: произведение числа корзин быстро увеличивает размер Q-таблицы.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A8AE3A-F9CF-4A2F-8F49-0F8775BC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116594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f6f3beb2d40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C6C36-7FC7-482A-BF76-2544EFD1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57310-F98F-494F-A869-1EE3352B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D02EF-71B4-4DE0-8F6A-BC7C6721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Награда и показатели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68E08-4F9A-4631-B5BE-CE3EE1F4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Математическая основа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18CAF-1E1E-4968-9B36-E9A7152F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AFCFC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32CE4-8CE8-4362-A7B4-AC22CF8A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3832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rₜ=wₜRₜ₊₁−c|wₜ−wₜ₋₁|−λmax(0,−wₜRₜ₊₁)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0670C-E3CA-4963-9D3F-6D5E11DB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AFC1D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85E7A-F4C3-4107-978B-7954BF1E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2895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RSI=100−100/(1+AvgGain/AvgLoss)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94812-B632-4991-A7D0-FCBC1F3D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47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AFCF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F2CF3-D299-4D9E-AFC7-FF734F7F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1957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MACD=EMA₁₂(C)−EMA₂₆(C);   ATR=MA₁₄(TR)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802D4-F390-4716-866C-3206056D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81625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Решение дня t использует только признаки, рассчитанные не позднее t; доходность t+1 появляется лишь в награде.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356E3-0141-4921-B9A2-2B29D4BA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792055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871eed8e04e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531AD-C65D-4B7C-BCD3-C54DA83B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36C2C-8C84-4478-8263-205F42B1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196C3-44F9-427F-8387-0814744E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Честное временное разбиение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11CF6-875B-4191-B0D9-7996C34D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Редактируемая архитектурная схема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A54DF-7E38-4FAB-B6F9-64632508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86B6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E5611-EBDD-4494-B80F-7D0B6F0F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DA331-CBB7-4F84-92FC-A25700AA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2022–2023: Q-обновления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C9150-8E4D-4317-800A-8876F2D3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57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621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21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1E7EB-7266-4B93-9738-AEB5340C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86B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472C4-C411-4234-9865-2B785993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2E769-7615-4C5C-AB50-576CB407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2024: α, γ, ε, признаки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92645-719B-4571-91A9-FDB19D70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57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621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21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6952A8-EE5A-4D43-A719-8C898218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2C8B6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5A9EA-9000-47C2-B352-FC975898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C8B6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8B62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E2736-3C24-49A0-A8A2-56CBD753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2025: один финальный запуск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5DEECD-86F1-49A3-9943-5C7FCD16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Нельзя случайно перемешивать ряд, обучать пороги дискретизации на test или выбирать алгоритм по test-Sharpe.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E1E8C4-8E9D-4360-AFE4-6E7F910A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595873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0dd2cb09542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2ADAF-80AB-46F5-B29F-55DAB1F4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92AC9-2CBC-4733-BADA-F4BE56EE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CD82F-85AE-4799-98A1-90C1D3E7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Иллюстративное сравнение SBER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F47F5-3465-4ED1-9205-8C36113C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Сравнение на одинаковых данных и временных границах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39EE2-E236-46C2-B747-CB88BC21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40D15-1885-4689-B3A7-746E38A4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57375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Политика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CF497-B1A6-40CD-95B6-6554A254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8097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22752-81C3-4545-A79A-71CAC7A1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85737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Доходность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738A3-DB08-4CEC-B060-F257D54C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097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2B590-F03F-4EE1-9322-36A7359D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85737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FAA55-4225-4DC0-B7A4-7ACF476E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8759D-2F47-448A-923D-AB07DE4A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85737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Max DD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9C8082-6A34-4466-BFE2-5800DBB7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622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4B9C33-6603-473B-8BDF-2B363883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0030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2A"/>
                </a:solidFill>
                <a:latin typeface="Arial"/>
                <a:ea typeface="Arial"/>
                <a:cs typeface="Arial"/>
              </a:rPr>
              <a:t>Q-learning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75E9E-EDB5-4102-A455-75C12179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622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D25405-969E-4521-A5E7-10FD0DFA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4003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12,8%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8DA441-C4C3-4F50-8E1F-8A6FDBAB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622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615321-087C-4FAB-9263-4E57B7AA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4003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0,91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973A25-2EF9-42F0-A5C0-6C50B8A6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622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ECC9B-66E3-457E-B6D8-FB85F0D0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4003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14,7%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EBA3E8-057D-475E-8473-B1629FD3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146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CED28E-3BAC-4064-9C39-F045AE08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5275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2A"/>
                </a:solidFill>
                <a:latin typeface="Arial"/>
                <a:ea typeface="Arial"/>
                <a:cs typeface="Arial"/>
              </a:rPr>
              <a:t>SARSA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13AA9B-E391-4968-8B2B-838E3453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9146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CF0F83-0535-4048-BAEB-EBEFA2BB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527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10,9%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662089-DC0F-4050-80DB-960B487D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146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4CE362-FAF9-445C-AE55-917C4635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9527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0,84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D6784B-ACCD-4885-810C-F206B2FF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146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4118C3-8151-45FC-934C-F1734006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9527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12,2%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35C9AA-A378-47DA-8B66-DEA50A04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671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1ADCEA-7AD5-4E4F-882B-321B6C6F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0520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2A"/>
                </a:solidFill>
                <a:latin typeface="Arial"/>
                <a:ea typeface="Arial"/>
                <a:cs typeface="Arial"/>
              </a:rPr>
              <a:t>Expected SARSA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3142AB-F8E1-4DE1-8A30-97E784FC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671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4F07BB-F9BD-4122-B5B1-372C3EC3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5052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13,5%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DF57E9-DCDE-42B0-BF0E-02D7D428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671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131F29-465A-4B1B-911C-BB444C3E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5052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1,02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9400A0-BE81-4230-BCBE-9E2DCC7F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671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01B403-A70C-4A07-9D44-4A05477A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5052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11,8%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171019-E18F-48A1-A31D-1E92FA00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195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A614AB-352E-44E4-AC90-7A412B61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5765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2A"/>
                </a:solidFill>
                <a:latin typeface="Arial"/>
                <a:ea typeface="Arial"/>
                <a:cs typeface="Arial"/>
              </a:rPr>
              <a:t>Buy &amp; Hold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B9CC37-86D7-4967-891A-D2847F85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19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B52895-63DB-4249-97EA-5E38061B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0576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9,6%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4B00AC-99F3-45A3-8B9B-7C534C9A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19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C27F15-6BD6-4899-89B2-1380D729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576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0,71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96BED6-D394-41B2-979E-033FED3B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19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9BFA0E-EE87-45D8-8815-6CA8959A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0576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19,4%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370438-A42F-427B-BECF-168CADF0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020030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1b587a1cd477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0C5B3-F0D0-47FF-AD99-2073006C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429A3-FB6D-4FB5-9C78-1B6A4309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5912A-5352-4BA8-8F64-F85CA936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TD-обновление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220CF-8A5F-4A1A-ABB6-9FEF1CB8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Фрагмент, который студент должен уметь объяснить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C8732-FEDE-462B-93FF-B6762E88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67627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101B2A"/>
          </a:solidFill>
          <a:ln xmlns:a="http://schemas.openxmlformats.org/drawingml/2006/main" w="9525">
            <a:solidFill>
              <a:srgbClr val="101B2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1378B-929B-4BB6-8B7F-68426F39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633412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if algo == "q_learning":</a:t>
            </a:r>
          </a:p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    b = Q[next_state].max()</a:t>
            </a:r>
          </a:p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elif algo == "sarsa":</a:t>
            </a:r>
          </a:p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    b = Q[next_state, next_action]</a:t>
            </a:r>
          </a:p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else:</a:t>
            </a:r>
          </a:p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    b = probs @ Q[next_state]</a:t>
            </a:r>
          </a:p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Q[state, action] += alpha * (</a:t>
            </a:r>
          </a:p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    reward + gamma*b - Q[state, action])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1425D-F1D4-42EB-85FA-57A4D38A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14500"/>
            <a:ext cx="3714750" cy="39052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2F7F7"/>
          </a:solidFill>
          <a:ln xmlns:a="http://schemas.openxmlformats.org/drawingml/2006/main" w="9525">
            <a:solidFill>
              <a:srgbClr val="B4C9C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3F374-C440-45C4-B3D5-F1E7F4D0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431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Что происходит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7E928-8D6E-4A81-8A63-6B5D0411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57450"/>
            <a:ext cx="323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Q-learning оптимизирует жадную целевую политику.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SARSA учитывает исследовательское следующее действие.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Expected SARSA снижает дисперсию, усредняя по ε-жадной политике.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D8161-E01A-4AD7-AF09-531248A3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588795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d781db17c40f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14E8B-0047-4F1A-A5F1-274281AA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331A4-2CE9-40B0-B8F3-89BA0DB2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23115-B021-4E4A-BECB-C5EF25CB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Мини-тест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DD243-A410-499E-929E-D485F132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Сначала ответьте без подсказок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4BAEB-FE92-472F-9479-4002702E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1. Какой метод off-policy?  A) Q-learning  B) SARSA  C) оба on-policy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2. Где рассчитываются пороги дискретизации?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3. Почему высокий return не гарантирует лучшую модель?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D9398-4971-4FA1-A7FD-8201385C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200011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d61e9a20345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85367-E37B-43F6-BF7E-85D7C8A2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B879E-B422-47A8-8FDB-CA59916E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4EDB4-1DC9-4934-B9FF-5CFEDAEC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Разбор мини-теста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01339-D472-402B-922B-C2C49BF5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Проверьте рассуждение, а не только букву ответа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A5BD6-F358-469D-90A4-2B8F2E14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1. A: Q-learning использует max по целевой жадной политике.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2. Только на train; validation/test применяют сохранённые пороги.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3. Нужно учитывать Sharpe, drawdown, turnover, комиссию и устойчивость по seed.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4E4BE-4BF1-4063-ADBD-1B3E74C8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98383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ac725484048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7015A-2EA8-475D-9454-555C9246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CE44B-ADFF-4359-A060-7AA3FA6A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985E2-D23C-4B98-B8CC-59827B96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Выводы и переход к DQN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A82BD-E7FB-4796-953B-87D1D278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Когда таблицы уже недостаточно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CC0B6-E3F9-4573-9F37-41DF6B28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382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Табличные методы прозрачны: каждое состояние и Q-значение можно проверить.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Цена прозрачности — грубая дискретизация и экспоненциальный рост числа состояний.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DQN заменяет таблицу аппроксиматором Q(s,a;θ), сохраняя TD-логику.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Данные, временные границы и baseline остаются теми же — меняется только класс модели.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95DE9-3F5A-4DF4-A164-789B290F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053618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2026-09-20T19:20:21.0260000Z</dcterms:created>
  <dcterms:modified xsi:type="dcterms:W3CDTF">2026-09-20T19:20:21.0260000Z</dcterms:modified>
</coreProperties>
</file>